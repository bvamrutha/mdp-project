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9" r:id="rId1"/>
  </p:sldMasterIdLst>
  <p:notesMasterIdLst>
    <p:notesMasterId r:id="rId31"/>
  </p:notesMasterIdLst>
  <p:sldIdLst>
    <p:sldId id="256" r:id="rId2"/>
    <p:sldId id="257" r:id="rId3"/>
    <p:sldId id="300" r:id="rId4"/>
    <p:sldId id="271" r:id="rId5"/>
    <p:sldId id="297" r:id="rId6"/>
    <p:sldId id="298" r:id="rId7"/>
    <p:sldId id="301" r:id="rId8"/>
    <p:sldId id="283" r:id="rId9"/>
    <p:sldId id="284" r:id="rId10"/>
    <p:sldId id="287" r:id="rId11"/>
    <p:sldId id="288" r:id="rId12"/>
    <p:sldId id="289" r:id="rId13"/>
    <p:sldId id="291" r:id="rId14"/>
    <p:sldId id="290" r:id="rId15"/>
    <p:sldId id="304" r:id="rId16"/>
    <p:sldId id="309" r:id="rId17"/>
    <p:sldId id="310" r:id="rId18"/>
    <p:sldId id="272" r:id="rId19"/>
    <p:sldId id="305" r:id="rId20"/>
    <p:sldId id="306" r:id="rId21"/>
    <p:sldId id="307" r:id="rId22"/>
    <p:sldId id="293" r:id="rId23"/>
    <p:sldId id="303" r:id="rId24"/>
    <p:sldId id="308" r:id="rId25"/>
    <p:sldId id="295" r:id="rId26"/>
    <p:sldId id="262" r:id="rId27"/>
    <p:sldId id="259" r:id="rId28"/>
    <p:sldId id="260" r:id="rId29"/>
    <p:sldId id="286" r:id="rId30"/>
  </p:sldIdLst>
  <p:sldSz cx="9144000" cy="5143500" type="screen16x9"/>
  <p:notesSz cx="6858000" cy="9144000"/>
  <p:embeddedFontLst>
    <p:embeddedFont>
      <p:font typeface="Roboto" panose="02000000000000000000" pitchFamily="2" charset="0"/>
      <p:regular r:id="rId32"/>
      <p:bold r:id="rId33"/>
      <p:italic r:id="rId34"/>
      <p:boldItalic r:id="rId35"/>
    </p:embeddedFont>
    <p:embeddedFont>
      <p:font typeface="Trebuchet MS" panose="020B0603020202020204" pitchFamily="34" charset="0"/>
      <p:regular r:id="rId36"/>
      <p:bold r:id="rId37"/>
      <p:italic r:id="rId38"/>
      <p:boldItalic r:id="rId39"/>
    </p:embeddedFont>
    <p:embeddedFont>
      <p:font typeface="Wingdings 3" panose="05040102010807070707" pitchFamily="18" charset="2"/>
      <p:regular r:id="rId4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7E66CCF-AC78-41D6-A825-B2C11A24A95F}">
          <p14:sldIdLst>
            <p14:sldId id="256"/>
            <p14:sldId id="257"/>
            <p14:sldId id="300"/>
            <p14:sldId id="271"/>
            <p14:sldId id="297"/>
            <p14:sldId id="298"/>
            <p14:sldId id="301"/>
            <p14:sldId id="283"/>
            <p14:sldId id="284"/>
            <p14:sldId id="287"/>
            <p14:sldId id="288"/>
            <p14:sldId id="289"/>
            <p14:sldId id="291"/>
            <p14:sldId id="290"/>
            <p14:sldId id="304"/>
            <p14:sldId id="309"/>
            <p14:sldId id="310"/>
            <p14:sldId id="272"/>
            <p14:sldId id="305"/>
            <p14:sldId id="306"/>
            <p14:sldId id="307"/>
            <p14:sldId id="293"/>
            <p14:sldId id="303"/>
            <p14:sldId id="308"/>
            <p14:sldId id="295"/>
            <p14:sldId id="262"/>
            <p14:sldId id="259"/>
            <p14:sldId id="260"/>
            <p14:sldId id="286"/>
          </p14:sldIdLst>
        </p14:section>
        <p14:section name="Untitled Section" id="{FE8F986F-1A3A-4902-BC95-39A5A792F6A7}">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2549" autoAdjust="0"/>
  </p:normalViewPr>
  <p:slideViewPr>
    <p:cSldViewPr snapToGrid="0">
      <p:cViewPr varScale="1">
        <p:scale>
          <a:sx n="101" d="100"/>
          <a:sy n="101" d="100"/>
        </p:scale>
        <p:origin x="1061"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57488822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3" name="Google Shape;8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5428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fa4ea8511e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2" name="Google Shape;92;g2fa4ea8511e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2723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23599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48945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extLst>
      <p:ext uri="{BB962C8B-B14F-4D97-AF65-F5344CB8AC3E}">
        <p14:creationId xmlns:p14="http://schemas.microsoft.com/office/powerpoint/2010/main" val="3483883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fa4ea8511e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8" name="Google Shape;98;g2fa4ea8511e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0891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fa4ea8511e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4" name="Google Shape;104;g2fa4ea8511e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5627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fa4ea8511e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2fa4ea8511e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58492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46897283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31958650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57319285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12/16/2025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01420001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12/16/2025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2533120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12/16/2025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15501933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12/16/2025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793624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12/16/2025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91282757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12/16/2025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94667174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36914717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321606126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92797730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1509492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22271717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99676663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20233537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8"/>
        <p:cNvGrpSpPr/>
        <p:nvPr/>
      </p:nvGrpSpPr>
      <p:grpSpPr>
        <a:xfrm>
          <a:off x="0" y="0"/>
          <a:ext cx="0" cy="0"/>
          <a:chOff x="0" y="0"/>
          <a:chExt cx="0" cy="0"/>
        </a:xfrm>
      </p:grpSpPr>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558431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4AAD347D-5ACD-4C99-B74B-A9C85AD731AF}" type="datetimeFigureOut">
              <a:rPr lang="en-US" smtClean="0"/>
              <a:t>12/16/2025</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765409201"/>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7.jpeg"/></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hyperlink" Target="https://openweathermap.org/api" TargetMode="External"/><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hyperlink" Target="https://www.kaggle.com/datasets/orvile/weather-related-disease-prediction-dataset"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341541" y="1300621"/>
            <a:ext cx="8222100" cy="203051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br>
              <a:rPr lang="en-GB" sz="1800" b="1" dirty="0"/>
            </a:br>
            <a:br>
              <a:rPr lang="en-GB" sz="1800" b="1" dirty="0"/>
            </a:br>
            <a:br>
              <a:rPr lang="en-GB" sz="1800" b="1" dirty="0"/>
            </a:br>
            <a:br>
              <a:rPr lang="en-GB" sz="1800" b="1" dirty="0"/>
            </a:br>
            <a:br>
              <a:rPr lang="en-GB" sz="1800" b="1" dirty="0"/>
            </a:br>
            <a:r>
              <a:rPr lang="en-GB" sz="2400" b="1" dirty="0">
                <a:latin typeface="Times New Roman" panose="02020603050405020304" pitchFamily="18" charset="0"/>
                <a:cs typeface="Times New Roman" panose="02020603050405020304" pitchFamily="18" charset="0"/>
              </a:rPr>
              <a:t>Major Project – Final Seminar</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 On </a:t>
            </a:r>
            <a:br>
              <a:rPr lang="en-GB" sz="2400" b="1" dirty="0"/>
            </a:br>
            <a:r>
              <a:rPr lang="en-GB" sz="2400" dirty="0">
                <a:solidFill>
                  <a:srgbClr val="7030A0"/>
                </a:solidFill>
              </a:rPr>
              <a:t>“</a:t>
            </a:r>
            <a:r>
              <a:rPr lang="en-US" sz="2400" dirty="0">
                <a:solidFill>
                  <a:srgbClr val="7030A0"/>
                </a:solidFill>
                <a:latin typeface="Times New Roman" panose="02020603050405020304" pitchFamily="18" charset="0"/>
                <a:cs typeface="Times New Roman" panose="02020603050405020304" pitchFamily="18" charset="0"/>
              </a:rPr>
              <a:t>MULTIPLE DISEASE PREDICTION USING </a:t>
            </a:r>
            <a:br>
              <a:rPr lang="en-US" sz="2400" dirty="0">
                <a:solidFill>
                  <a:srgbClr val="7030A0"/>
                </a:solidFill>
                <a:latin typeface="Times New Roman" panose="02020603050405020304" pitchFamily="18" charset="0"/>
                <a:cs typeface="Times New Roman" panose="02020603050405020304" pitchFamily="18" charset="0"/>
              </a:rPr>
            </a:br>
            <a:r>
              <a:rPr lang="en-US" sz="2400" dirty="0">
                <a:solidFill>
                  <a:srgbClr val="7030A0"/>
                </a:solidFill>
                <a:latin typeface="Times New Roman" panose="02020603050405020304" pitchFamily="18" charset="0"/>
                <a:cs typeface="Times New Roman" panose="02020603050405020304" pitchFamily="18" charset="0"/>
              </a:rPr>
              <a:t>MACHINE LEARNING ALGORITHMS</a:t>
            </a:r>
            <a:r>
              <a:rPr lang="en-GB" sz="2400" dirty="0">
                <a:solidFill>
                  <a:srgbClr val="7030A0"/>
                </a:solidFill>
              </a:rPr>
              <a:t>”</a:t>
            </a:r>
            <a:br>
              <a:rPr lang="en-GB" sz="3600" dirty="0">
                <a:solidFill>
                  <a:srgbClr val="7030A0"/>
                </a:solidFill>
              </a:rPr>
            </a:br>
            <a:r>
              <a:rPr lang="en-GB" sz="3200" dirty="0"/>
              <a:t>                              </a:t>
            </a:r>
            <a:endParaRPr lang="en-GB" sz="2400" dirty="0"/>
          </a:p>
        </p:txBody>
      </p:sp>
      <p:sp>
        <p:nvSpPr>
          <p:cNvPr id="86" name="Google Shape;86;p13"/>
          <p:cNvSpPr txBox="1">
            <a:spLocks noGrp="1"/>
          </p:cNvSpPr>
          <p:nvPr>
            <p:ph type="subTitle" idx="1"/>
          </p:nvPr>
        </p:nvSpPr>
        <p:spPr>
          <a:xfrm>
            <a:off x="433640" y="3256316"/>
            <a:ext cx="8552478" cy="1750563"/>
          </a:xfrm>
          <a:prstGeom prst="rect">
            <a:avLst/>
          </a:prstGeom>
        </p:spPr>
        <p:txBody>
          <a:bodyPr spcFirstLastPara="1" wrap="square" lIns="91425" tIns="91425" rIns="91425" bIns="91425" anchor="t" anchorCtr="0">
            <a:noAutofit/>
          </a:bodyPr>
          <a:lstStyle/>
          <a:p>
            <a:pPr marL="0" lvl="0" indent="0" algn="l"/>
            <a:r>
              <a:rPr lang="en-GB" sz="1400" b="1" dirty="0">
                <a:solidFill>
                  <a:schemeClr val="tx1"/>
                </a:solidFill>
                <a:latin typeface="Times New Roman" panose="02020603050405020304" pitchFamily="18" charset="0"/>
                <a:cs typeface="Times New Roman" panose="02020603050405020304" pitchFamily="18" charset="0"/>
              </a:rPr>
              <a:t>Presented By,                                                                                                                        Under the Guidance</a:t>
            </a:r>
            <a:endParaRPr lang="en-IN" sz="1400" b="1" dirty="0">
              <a:solidFill>
                <a:schemeClr val="tx1"/>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en-IN" sz="1400" b="1" dirty="0">
              <a:solidFill>
                <a:schemeClr val="tx1"/>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IN" sz="1400" b="1" dirty="0">
                <a:solidFill>
                  <a:schemeClr val="tx1"/>
                </a:solidFill>
                <a:latin typeface="Times New Roman" panose="02020603050405020304" pitchFamily="18" charset="0"/>
                <a:cs typeface="Times New Roman" panose="02020603050405020304" pitchFamily="18" charset="0"/>
              </a:rPr>
              <a:t>Amrutha BV (4AI22CD003)                                                                                                    Prof. Pallavi CS</a:t>
            </a:r>
          </a:p>
          <a:p>
            <a:pPr marL="0" lvl="0" indent="0" algn="l" rtl="0">
              <a:spcBef>
                <a:spcPts val="0"/>
              </a:spcBef>
              <a:spcAft>
                <a:spcPts val="0"/>
              </a:spcAft>
              <a:buNone/>
            </a:pPr>
            <a:r>
              <a:rPr lang="en-IN" sz="1400" b="1" dirty="0">
                <a:solidFill>
                  <a:schemeClr val="tx1"/>
                </a:solidFill>
                <a:latin typeface="Times New Roman" panose="02020603050405020304" pitchFamily="18" charset="0"/>
                <a:cs typeface="Times New Roman" panose="02020603050405020304" pitchFamily="18" charset="0"/>
              </a:rPr>
              <a:t>Ananya BK (4AI22CD004)</a:t>
            </a:r>
          </a:p>
          <a:p>
            <a:pPr marL="0" lvl="0" indent="0" algn="l" rtl="0">
              <a:spcBef>
                <a:spcPts val="0"/>
              </a:spcBef>
              <a:spcAft>
                <a:spcPts val="0"/>
              </a:spcAft>
              <a:buNone/>
            </a:pPr>
            <a:r>
              <a:rPr lang="en-IN" sz="1400" b="1" dirty="0">
                <a:solidFill>
                  <a:schemeClr val="tx1"/>
                </a:solidFill>
                <a:latin typeface="Times New Roman" panose="02020603050405020304" pitchFamily="18" charset="0"/>
                <a:cs typeface="Times New Roman" panose="02020603050405020304" pitchFamily="18" charset="0"/>
              </a:rPr>
              <a:t>Bhumika K (4AI22CD009)</a:t>
            </a:r>
          </a:p>
          <a:p>
            <a:pPr marL="0" lvl="0" indent="0" algn="l" rtl="0">
              <a:spcBef>
                <a:spcPts val="0"/>
              </a:spcBef>
              <a:spcAft>
                <a:spcPts val="0"/>
              </a:spcAft>
              <a:buNone/>
            </a:pPr>
            <a:r>
              <a:rPr lang="en-IN" sz="1400" b="1" dirty="0">
                <a:solidFill>
                  <a:schemeClr val="tx1"/>
                </a:solidFill>
                <a:latin typeface="Times New Roman" panose="02020603050405020304" pitchFamily="18" charset="0"/>
                <a:cs typeface="Times New Roman" panose="02020603050405020304" pitchFamily="18" charset="0"/>
              </a:rPr>
              <a:t>Hitha B R (4AI22CD026)</a:t>
            </a:r>
          </a:p>
        </p:txBody>
      </p:sp>
      <p:pic>
        <p:nvPicPr>
          <p:cNvPr id="87" name="Google Shape;87;p13"/>
          <p:cNvPicPr preferRelativeResize="0"/>
          <p:nvPr/>
        </p:nvPicPr>
        <p:blipFill>
          <a:blip r:embed="rId3">
            <a:alphaModFix/>
          </a:blip>
          <a:stretch>
            <a:fillRect/>
          </a:stretch>
        </p:blipFill>
        <p:spPr>
          <a:xfrm>
            <a:off x="173750" y="64025"/>
            <a:ext cx="1352225" cy="1381625"/>
          </a:xfrm>
          <a:prstGeom prst="rect">
            <a:avLst/>
          </a:prstGeom>
          <a:noFill/>
          <a:ln>
            <a:noFill/>
          </a:ln>
        </p:spPr>
      </p:pic>
      <p:pic>
        <p:nvPicPr>
          <p:cNvPr id="88" name="Google Shape;88;p13"/>
          <p:cNvPicPr preferRelativeResize="0"/>
          <p:nvPr/>
        </p:nvPicPr>
        <p:blipFill>
          <a:blip r:embed="rId4">
            <a:alphaModFix/>
          </a:blip>
          <a:stretch>
            <a:fillRect/>
          </a:stretch>
        </p:blipFill>
        <p:spPr>
          <a:xfrm>
            <a:off x="7572184" y="-101910"/>
            <a:ext cx="1672366" cy="1622375"/>
          </a:xfrm>
          <a:prstGeom prst="rect">
            <a:avLst/>
          </a:prstGeom>
          <a:noFill/>
          <a:ln>
            <a:noFill/>
          </a:ln>
        </p:spPr>
      </p:pic>
      <p:sp>
        <p:nvSpPr>
          <p:cNvPr id="89" name="Google Shape;89;p13"/>
          <p:cNvSpPr txBox="1"/>
          <p:nvPr/>
        </p:nvSpPr>
        <p:spPr>
          <a:xfrm>
            <a:off x="1686050" y="84459"/>
            <a:ext cx="4972800" cy="1003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800" b="1" dirty="0">
                <a:solidFill>
                  <a:schemeClr val="accent1"/>
                </a:solidFill>
                <a:latin typeface="Roboto"/>
                <a:ea typeface="Roboto"/>
                <a:cs typeface="Roboto"/>
                <a:sym typeface="Roboto"/>
              </a:rPr>
              <a:t>Dept. of CS&amp;E ( DATA SCIENCE)</a:t>
            </a:r>
            <a:endParaRPr sz="1800" b="1" dirty="0">
              <a:solidFill>
                <a:schemeClr val="accent1"/>
              </a:solidFill>
              <a:latin typeface="Roboto"/>
              <a:ea typeface="Roboto"/>
              <a:cs typeface="Roboto"/>
              <a:sym typeface="Roboto"/>
            </a:endParaRPr>
          </a:p>
          <a:p>
            <a:pPr marL="0" lvl="0" indent="0" algn="ctr" rtl="0">
              <a:spcBef>
                <a:spcPts val="0"/>
              </a:spcBef>
              <a:spcAft>
                <a:spcPts val="0"/>
              </a:spcAft>
              <a:buNone/>
            </a:pPr>
            <a:r>
              <a:rPr lang="en-GB" sz="1800" b="1" dirty="0">
                <a:solidFill>
                  <a:schemeClr val="accent1"/>
                </a:solidFill>
                <a:latin typeface="Roboto"/>
                <a:ea typeface="Roboto"/>
                <a:cs typeface="Roboto"/>
                <a:sym typeface="Roboto"/>
              </a:rPr>
              <a:t>Adichunchanagiri Institute of Technology</a:t>
            </a:r>
            <a:endParaRPr sz="1800" b="1" dirty="0">
              <a:solidFill>
                <a:schemeClr val="accent1"/>
              </a:solidFill>
              <a:latin typeface="Roboto"/>
              <a:ea typeface="Roboto"/>
              <a:cs typeface="Roboto"/>
              <a:sym typeface="Roboto"/>
            </a:endParaRPr>
          </a:p>
          <a:p>
            <a:pPr marL="0" lvl="0" indent="0" algn="ctr" rtl="0">
              <a:spcBef>
                <a:spcPts val="0"/>
              </a:spcBef>
              <a:spcAft>
                <a:spcPts val="0"/>
              </a:spcAft>
              <a:buNone/>
            </a:pPr>
            <a:r>
              <a:rPr lang="en-GB" sz="1800" b="1" dirty="0">
                <a:solidFill>
                  <a:schemeClr val="accent1"/>
                </a:solidFill>
                <a:latin typeface="Roboto"/>
                <a:ea typeface="Roboto"/>
                <a:cs typeface="Roboto"/>
                <a:sym typeface="Roboto"/>
              </a:rPr>
              <a:t>Chikkamagaluru - 577102</a:t>
            </a:r>
            <a:endParaRPr sz="1800" b="1" dirty="0">
              <a:solidFill>
                <a:schemeClr val="accen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txBox="1">
            <a:spLocks noGrp="1"/>
          </p:cNvSpPr>
          <p:nvPr>
            <p:ph type="title"/>
          </p:nvPr>
        </p:nvSpPr>
        <p:spPr>
          <a:xfrm>
            <a:off x="166975" y="94236"/>
            <a:ext cx="8520600" cy="6078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b="1" u="sng" dirty="0">
                <a:latin typeface="Times New Roman" panose="02020603050405020304" pitchFamily="18" charset="0"/>
                <a:cs typeface="Times New Roman" panose="02020603050405020304" pitchFamily="18" charset="0"/>
              </a:rPr>
              <a:t>ABSTRACT</a:t>
            </a:r>
          </a:p>
        </p:txBody>
      </p:sp>
      <p:sp>
        <p:nvSpPr>
          <p:cNvPr id="95" name="Google Shape;95;p14"/>
          <p:cNvSpPr txBox="1">
            <a:spLocks noGrp="1"/>
          </p:cNvSpPr>
          <p:nvPr>
            <p:ph type="body" idx="1"/>
          </p:nvPr>
        </p:nvSpPr>
        <p:spPr>
          <a:xfrm>
            <a:off x="285387" y="808855"/>
            <a:ext cx="7370635" cy="4029152"/>
          </a:xfrm>
          <a:prstGeom prst="rect">
            <a:avLst/>
          </a:prstGeom>
        </p:spPr>
        <p:txBody>
          <a:bodyPr spcFirstLastPara="1" wrap="square" lIns="91425" tIns="91425" rIns="91425" bIns="91425" anchor="t" anchorCtr="0">
            <a:noAutofit/>
          </a:bodyPr>
          <a:lstStyle/>
          <a:p>
            <a:pPr algn="just"/>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Multiple Disease Prediction System</a:t>
            </a:r>
            <a:r>
              <a:rPr lang="en-US" sz="2000" dirty="0">
                <a:latin typeface="Times New Roman" panose="02020603050405020304" pitchFamily="18" charset="0"/>
                <a:cs typeface="Times New Roman" panose="02020603050405020304" pitchFamily="18" charset="0"/>
              </a:rPr>
              <a:t> uses machine learning to predict diseases such as Diabetes, Heart Disease, Parkinson’s Disease, and Breast Cancer based on medical input data. The system provides users with a simple web-based platform for preliminary disease prediction.</a:t>
            </a:r>
          </a:p>
          <a:p>
            <a:pPr marL="11430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application is developed using Python and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with trained machine learning models generating accurate results. The enhanced version improves user interface and result clarity, highlighting the role of machine learning in healthcare support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D1E177-C9C7-D3D4-35B8-6200639146C4}"/>
              </a:ext>
            </a:extLst>
          </p:cNvPr>
          <p:cNvSpPr txBox="1"/>
          <p:nvPr/>
        </p:nvSpPr>
        <p:spPr>
          <a:xfrm>
            <a:off x="2475710" y="196691"/>
            <a:ext cx="4572000" cy="523220"/>
          </a:xfrm>
          <a:prstGeom prst="rect">
            <a:avLst/>
          </a:prstGeom>
          <a:noFill/>
        </p:spPr>
        <p:txBody>
          <a:bodyPr wrap="square">
            <a:spAutoFit/>
          </a:bodyPr>
          <a:lstStyle/>
          <a:p>
            <a:r>
              <a:rPr lang="en-GB" sz="2800" b="1" u="sng" dirty="0">
                <a:solidFill>
                  <a:schemeClr val="accent1"/>
                </a:solidFill>
                <a:latin typeface="Times New Roman" panose="02020603050405020304" pitchFamily="18" charset="0"/>
                <a:cs typeface="Times New Roman" panose="02020603050405020304" pitchFamily="18" charset="0"/>
              </a:rPr>
              <a:t>CONTENTS</a:t>
            </a:r>
            <a:endParaRPr lang="en-US" sz="2800" dirty="0">
              <a:solidFill>
                <a:schemeClr val="accent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99B0907-B97D-828E-CFE4-1881C265EA38}"/>
              </a:ext>
            </a:extLst>
          </p:cNvPr>
          <p:cNvSpPr txBox="1"/>
          <p:nvPr/>
        </p:nvSpPr>
        <p:spPr>
          <a:xfrm>
            <a:off x="1027841" y="749250"/>
            <a:ext cx="5618286" cy="419198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Introduction</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Problem Definition and Objective</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System Design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Software Requirements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Implementation Details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Results and Discussion</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Conclusion and Future Enhancement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References </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48220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749" y="186334"/>
            <a:ext cx="8520600" cy="607800"/>
          </a:xfrm>
        </p:spPr>
        <p:txBody>
          <a:bodyPr>
            <a:normAutofit fontScale="90000"/>
          </a:bodyPr>
          <a:lstStyle/>
          <a:p>
            <a:r>
              <a:rPr lang="en-IN" b="1" dirty="0">
                <a:latin typeface="Times New Roman" panose="02020603050405020304" pitchFamily="18" charset="0"/>
                <a:cs typeface="Times New Roman" panose="02020603050405020304" pitchFamily="18" charset="0"/>
              </a:rPr>
              <a:t>                            </a:t>
            </a:r>
            <a:r>
              <a:rPr lang="en-IN" b="1" u="sng" dirty="0">
                <a:latin typeface="Times New Roman" panose="02020603050405020304" pitchFamily="18" charset="0"/>
                <a:cs typeface="Times New Roman" panose="02020603050405020304" pitchFamily="18" charset="0"/>
              </a:rPr>
              <a:t>INTRODUCTION</a:t>
            </a:r>
            <a:br>
              <a:rPr lang="en-IN" b="1" u="sng" dirty="0"/>
            </a:br>
            <a:br>
              <a:rPr lang="en-IN" b="1" u="sng" dirty="0"/>
            </a:br>
            <a:br>
              <a:rPr lang="en-IN" b="1" dirty="0"/>
            </a:br>
            <a:endParaRPr lang="en-IN" dirty="0"/>
          </a:p>
        </p:txBody>
      </p:sp>
      <p:sp>
        <p:nvSpPr>
          <p:cNvPr id="3" name="Text Placeholder 2"/>
          <p:cNvSpPr>
            <a:spLocks noGrp="1"/>
          </p:cNvSpPr>
          <p:nvPr>
            <p:ph type="body" idx="1"/>
          </p:nvPr>
        </p:nvSpPr>
        <p:spPr>
          <a:xfrm>
            <a:off x="311700" y="862361"/>
            <a:ext cx="8520600" cy="4094805"/>
          </a:xfrm>
        </p:spPr>
        <p:txBody>
          <a:bodyPr>
            <a:noAutofit/>
          </a:bodyPr>
          <a:lstStyle/>
          <a:p>
            <a:pPr marL="114300" indent="0" algn="just">
              <a:lnSpc>
                <a:spcPct val="150000"/>
              </a:lnSpc>
              <a:buNone/>
            </a:pPr>
            <a:r>
              <a:rPr lang="en-US" sz="1600" dirty="0">
                <a:latin typeface="Times New Roman" panose="02020603050405020304" pitchFamily="18" charset="0"/>
                <a:cs typeface="Times New Roman" panose="02020603050405020304" pitchFamily="18" charset="0"/>
              </a:rPr>
              <a:t>          Healthcare systems generate large volumes of medical data, which can be effectively analyzed using machine learning techniques. Early disease prediction helps individuals take preventive actions and seek medical advice at the right time. However, traditional diagnosis often requires clinical tests and expert consultation, which may not always be easily accessible. The project proposes a machine learning-based system that predicts multiple diseases using patient medical parameters through a simple web-based interface.</a:t>
            </a: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72616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49F04C-E9C3-44E1-EA12-5879A365EB81}"/>
              </a:ext>
            </a:extLst>
          </p:cNvPr>
          <p:cNvSpPr txBox="1"/>
          <p:nvPr/>
        </p:nvSpPr>
        <p:spPr>
          <a:xfrm>
            <a:off x="317634" y="202132"/>
            <a:ext cx="6540366" cy="523220"/>
          </a:xfrm>
          <a:prstGeom prst="rect">
            <a:avLst/>
          </a:prstGeom>
          <a:noFill/>
        </p:spPr>
        <p:txBody>
          <a:bodyPr wrap="square">
            <a:spAutoFit/>
          </a:bodyPr>
          <a:lstStyle/>
          <a:p>
            <a:r>
              <a:rPr lang="en-IN" sz="2800" b="1" dirty="0">
                <a:solidFill>
                  <a:schemeClr val="accent1"/>
                </a:solidFill>
                <a:latin typeface="Times New Roman" panose="02020603050405020304" pitchFamily="18" charset="0"/>
                <a:cs typeface="Times New Roman" panose="02020603050405020304" pitchFamily="18" charset="0"/>
              </a:rPr>
              <a:t>                </a:t>
            </a:r>
            <a:r>
              <a:rPr lang="en-IN" sz="2800" b="1" u="sng" dirty="0">
                <a:solidFill>
                  <a:schemeClr val="accent1"/>
                </a:solidFill>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10C98C7A-D871-74E4-F453-9E45DF940D7B}"/>
              </a:ext>
            </a:extLst>
          </p:cNvPr>
          <p:cNvSpPr txBox="1"/>
          <p:nvPr/>
        </p:nvSpPr>
        <p:spPr>
          <a:xfrm>
            <a:off x="0" y="812486"/>
            <a:ext cx="8508732" cy="1950790"/>
          </a:xfrm>
          <a:prstGeom prst="rect">
            <a:avLst/>
          </a:prstGeom>
          <a:noFill/>
        </p:spPr>
        <p:txBody>
          <a:bodyPr wrap="square">
            <a:spAutoFit/>
          </a:bodyPr>
          <a:lstStyle/>
          <a:p>
            <a:endParaRPr lang="en-US" sz="1600" dirty="0">
              <a:solidFill>
                <a:srgbClr val="000000"/>
              </a:solidFill>
              <a:latin typeface="Arimo"/>
              <a:ea typeface="Arimo"/>
              <a:cs typeface="Arimo"/>
              <a:sym typeface="Arimo"/>
            </a:endParaRPr>
          </a:p>
          <a:p>
            <a:pPr algn="just">
              <a:lnSpc>
                <a:spcPct val="150000"/>
              </a:lnSpc>
            </a:pPr>
            <a:r>
              <a:rPr lang="en-US" dirty="0"/>
              <a:t>	</a:t>
            </a:r>
            <a:r>
              <a:rPr lang="en-US" dirty="0">
                <a:latin typeface="Times New Roman" panose="02020603050405020304" pitchFamily="18" charset="0"/>
                <a:cs typeface="Times New Roman" panose="02020603050405020304" pitchFamily="18" charset="0"/>
              </a:rPr>
              <a:t>To design and develop a machine learning-based system that predicts multiple diseases such as Diabetes, Heart Disease, Parkinson’s Disease, and Breast Cancer using medical input parameters, with a user-friendly web interface for data input and result visualization.</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3353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37607D-47F3-860F-0138-6A7C59DA4EBC}"/>
              </a:ext>
            </a:extLst>
          </p:cNvPr>
          <p:cNvSpPr txBox="1"/>
          <p:nvPr/>
        </p:nvSpPr>
        <p:spPr>
          <a:xfrm>
            <a:off x="2714323" y="-105877"/>
            <a:ext cx="5582653" cy="954107"/>
          </a:xfrm>
          <a:prstGeom prst="rect">
            <a:avLst/>
          </a:prstGeom>
          <a:noFill/>
        </p:spPr>
        <p:txBody>
          <a:bodyPr wrap="square">
            <a:spAutoFit/>
          </a:bodyPr>
          <a:lstStyle/>
          <a:p>
            <a:endParaRPr lang="en-IN" u="sng" dirty="0"/>
          </a:p>
          <a:p>
            <a:r>
              <a:rPr lang="en-IN" u="sng" dirty="0"/>
              <a:t>                                                                                                    </a:t>
            </a:r>
            <a:r>
              <a:rPr lang="en-IN" sz="2800" b="1" u="sng" dirty="0">
                <a:solidFill>
                  <a:schemeClr val="accent1"/>
                </a:solidFill>
                <a:latin typeface="Times New Roman" panose="02020603050405020304" pitchFamily="18" charset="0"/>
                <a:cs typeface="Times New Roman" panose="02020603050405020304" pitchFamily="18" charset="0"/>
              </a:rPr>
              <a:t>OBJECTIVES</a:t>
            </a:r>
          </a:p>
        </p:txBody>
      </p:sp>
      <p:sp>
        <p:nvSpPr>
          <p:cNvPr id="5" name="TextBox 4">
            <a:extLst>
              <a:ext uri="{FF2B5EF4-FFF2-40B4-BE49-F238E27FC236}">
                <a16:creationId xmlns:a16="http://schemas.microsoft.com/office/drawing/2014/main" id="{DBDE8328-AE1A-80D5-377A-64100BD4D56B}"/>
              </a:ext>
            </a:extLst>
          </p:cNvPr>
          <p:cNvSpPr txBox="1"/>
          <p:nvPr/>
        </p:nvSpPr>
        <p:spPr>
          <a:xfrm>
            <a:off x="327259" y="1029903"/>
            <a:ext cx="6891688" cy="1289071"/>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develop a disease prediction web application</a:t>
            </a:r>
          </a:p>
          <a:p>
            <a:pPr marL="342900"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provide timely and reliable results</a:t>
            </a:r>
          </a:p>
          <a:p>
            <a:pPr marL="342900"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educate and promote health awareness</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8413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53BD0E-2956-0FD4-9B02-E33537834074}"/>
              </a:ext>
            </a:extLst>
          </p:cNvPr>
          <p:cNvSpPr txBox="1"/>
          <p:nvPr/>
        </p:nvSpPr>
        <p:spPr>
          <a:xfrm>
            <a:off x="2639291" y="360218"/>
            <a:ext cx="4218708" cy="461665"/>
          </a:xfrm>
          <a:prstGeom prst="rect">
            <a:avLst/>
          </a:prstGeom>
          <a:noFill/>
        </p:spPr>
        <p:txBody>
          <a:bodyPr wrap="square">
            <a:spAutoFit/>
          </a:bodyPr>
          <a:lstStyle/>
          <a:p>
            <a:r>
              <a:rPr lang="en-US" sz="2400" b="1" u="sng" dirty="0">
                <a:solidFill>
                  <a:schemeClr val="accent1"/>
                </a:solidFill>
                <a:latin typeface="Times New Roman" panose="02020603050405020304" pitchFamily="18" charset="0"/>
                <a:cs typeface="Times New Roman" panose="02020603050405020304" pitchFamily="18" charset="0"/>
              </a:rPr>
              <a:t>LITERATURE SURVEY-1</a:t>
            </a:r>
            <a:endParaRPr lang="en-US" sz="2400" dirty="0">
              <a:solidFill>
                <a:schemeClr val="accent1"/>
              </a:solidFill>
            </a:endParaRPr>
          </a:p>
        </p:txBody>
      </p:sp>
      <p:graphicFrame>
        <p:nvGraphicFramePr>
          <p:cNvPr id="4" name="Table 3">
            <a:extLst>
              <a:ext uri="{FF2B5EF4-FFF2-40B4-BE49-F238E27FC236}">
                <a16:creationId xmlns:a16="http://schemas.microsoft.com/office/drawing/2014/main" id="{CB895AFD-93F9-AF8D-41B6-2C4153A9BFFF}"/>
              </a:ext>
            </a:extLst>
          </p:cNvPr>
          <p:cNvGraphicFramePr>
            <a:graphicFrameLocks noGrp="1"/>
          </p:cNvGraphicFramePr>
          <p:nvPr>
            <p:extLst>
              <p:ext uri="{D42A27DB-BD31-4B8C-83A1-F6EECF244321}">
                <p14:modId xmlns:p14="http://schemas.microsoft.com/office/powerpoint/2010/main" val="904064353"/>
              </p:ext>
            </p:extLst>
          </p:nvPr>
        </p:nvGraphicFramePr>
        <p:xfrm>
          <a:off x="540326" y="1609271"/>
          <a:ext cx="7923541" cy="2998058"/>
        </p:xfrm>
        <a:graphic>
          <a:graphicData uri="http://schemas.openxmlformats.org/drawingml/2006/table">
            <a:tbl>
              <a:tblPr firstRow="1" bandRow="1">
                <a:tableStyleId>{93296810-A885-4BE3-A3E7-6D5BEEA58F35}</a:tableStyleId>
              </a:tblPr>
              <a:tblGrid>
                <a:gridCol w="1885628">
                  <a:extLst>
                    <a:ext uri="{9D8B030D-6E8A-4147-A177-3AD203B41FA5}">
                      <a16:colId xmlns:a16="http://schemas.microsoft.com/office/drawing/2014/main" val="252948255"/>
                    </a:ext>
                  </a:extLst>
                </a:gridCol>
                <a:gridCol w="1875856">
                  <a:extLst>
                    <a:ext uri="{9D8B030D-6E8A-4147-A177-3AD203B41FA5}">
                      <a16:colId xmlns:a16="http://schemas.microsoft.com/office/drawing/2014/main" val="914991628"/>
                    </a:ext>
                  </a:extLst>
                </a:gridCol>
                <a:gridCol w="1455744">
                  <a:extLst>
                    <a:ext uri="{9D8B030D-6E8A-4147-A177-3AD203B41FA5}">
                      <a16:colId xmlns:a16="http://schemas.microsoft.com/office/drawing/2014/main" val="758360616"/>
                    </a:ext>
                  </a:extLst>
                </a:gridCol>
                <a:gridCol w="847885">
                  <a:extLst>
                    <a:ext uri="{9D8B030D-6E8A-4147-A177-3AD203B41FA5}">
                      <a16:colId xmlns:a16="http://schemas.microsoft.com/office/drawing/2014/main" val="132274569"/>
                    </a:ext>
                  </a:extLst>
                </a:gridCol>
                <a:gridCol w="1858428">
                  <a:extLst>
                    <a:ext uri="{9D8B030D-6E8A-4147-A177-3AD203B41FA5}">
                      <a16:colId xmlns:a16="http://schemas.microsoft.com/office/drawing/2014/main" val="298757927"/>
                    </a:ext>
                  </a:extLst>
                </a:gridCol>
              </a:tblGrid>
              <a:tr h="643478">
                <a:tc>
                  <a:txBody>
                    <a:bodyPr/>
                    <a:lstStyle/>
                    <a:p>
                      <a:r>
                        <a:rPr lang="en-IN" dirty="0"/>
                        <a:t>Title</a:t>
                      </a:r>
                    </a:p>
                  </a:txBody>
                  <a:tcPr/>
                </a:tc>
                <a:tc>
                  <a:txBody>
                    <a:bodyPr/>
                    <a:lstStyle/>
                    <a:p>
                      <a:r>
                        <a:rPr lang="en-IN" dirty="0"/>
                        <a:t>Authors</a:t>
                      </a:r>
                    </a:p>
                  </a:txBody>
                  <a:tcPr/>
                </a:tc>
                <a:tc>
                  <a:txBody>
                    <a:bodyPr/>
                    <a:lstStyle/>
                    <a:p>
                      <a:r>
                        <a:rPr lang="en-IN" dirty="0"/>
                        <a:t>Publication</a:t>
                      </a:r>
                    </a:p>
                  </a:txBody>
                  <a:tcPr/>
                </a:tc>
                <a:tc>
                  <a:txBody>
                    <a:bodyPr/>
                    <a:lstStyle/>
                    <a:p>
                      <a:r>
                        <a:rPr lang="en-IN" dirty="0"/>
                        <a:t>Year</a:t>
                      </a:r>
                    </a:p>
                  </a:txBody>
                  <a:tcPr/>
                </a:tc>
                <a:tc>
                  <a:txBody>
                    <a:bodyPr/>
                    <a:lstStyle/>
                    <a:p>
                      <a:r>
                        <a:rPr lang="en-IN" dirty="0"/>
                        <a:t>Outcome</a:t>
                      </a:r>
                    </a:p>
                  </a:txBody>
                  <a:tcPr/>
                </a:tc>
                <a:extLst>
                  <a:ext uri="{0D108BD9-81ED-4DB2-BD59-A6C34878D82A}">
                    <a16:rowId xmlns:a16="http://schemas.microsoft.com/office/drawing/2014/main" val="878400638"/>
                  </a:ext>
                </a:extLst>
              </a:tr>
              <a:tr h="1248608">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IN" dirty="0"/>
                        <a:t>Multiple Disease Prediction System using Machine Learning</a:t>
                      </a:r>
                    </a:p>
                    <a:p>
                      <a:endParaRPr lang="en-IN" dirty="0"/>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IN" dirty="0"/>
                        <a:t>Ahad Rehman, Shikha Singh, Vineet Singh, Bramah </a:t>
                      </a:r>
                      <a:r>
                        <a:rPr lang="en-IN" dirty="0" err="1"/>
                        <a:t>Hazela</a:t>
                      </a:r>
                      <a:endParaRPr lang="en-IN" dirty="0"/>
                    </a:p>
                    <a:p>
                      <a:endParaRPr lang="en-IN" dirty="0"/>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dirty="0"/>
                        <a:t>International Journal of Machine Learning &amp; Applications</a:t>
                      </a:r>
                      <a:endParaRPr lang="en-IN" dirty="0"/>
                    </a:p>
                    <a:p>
                      <a:endParaRPr lang="en-IN" dirty="0"/>
                    </a:p>
                  </a:txBody>
                  <a:tcPr/>
                </a:tc>
                <a:tc>
                  <a:txBody>
                    <a:bodyPr/>
                    <a:lstStyle/>
                    <a:p>
                      <a:r>
                        <a:rPr lang="en-IN" dirty="0"/>
                        <a:t>2024</a:t>
                      </a:r>
                    </a:p>
                  </a:txBody>
                  <a:tcPr/>
                </a:tc>
                <a:tc>
                  <a:txBody>
                    <a:bodyPr/>
                    <a:lstStyle/>
                    <a:p>
                      <a:pPr marL="285750" lvl="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Random Forest outperformed other models (such as SVM,LR,KNN) in disease prediction.</a:t>
                      </a:r>
                    </a:p>
                    <a:p>
                      <a:pPr marL="285750" lvl="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showed superior accuracy for diabetics, kidney, heart and liver diseases.</a:t>
                      </a:r>
                    </a:p>
                    <a:p>
                      <a:endParaRPr lang="en-IN" dirty="0"/>
                    </a:p>
                  </a:txBody>
                  <a:tcPr/>
                </a:tc>
                <a:extLst>
                  <a:ext uri="{0D108BD9-81ED-4DB2-BD59-A6C34878D82A}">
                    <a16:rowId xmlns:a16="http://schemas.microsoft.com/office/drawing/2014/main" val="3574117839"/>
                  </a:ext>
                </a:extLst>
              </a:tr>
            </a:tbl>
          </a:graphicData>
        </a:graphic>
      </p:graphicFrame>
    </p:spTree>
    <p:extLst>
      <p:ext uri="{BB962C8B-B14F-4D97-AF65-F5344CB8AC3E}">
        <p14:creationId xmlns:p14="http://schemas.microsoft.com/office/powerpoint/2010/main" val="3331189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latin typeface="Times New Roman" panose="02020603050405020304" pitchFamily="18" charset="0"/>
                <a:cs typeface="Times New Roman" panose="02020603050405020304" pitchFamily="18" charset="0"/>
              </a:rPr>
              <a:t>LITERATURE SURVEY-2</a:t>
            </a:r>
            <a:endParaRPr lang="en-IN" dirty="0"/>
          </a:p>
        </p:txBody>
      </p:sp>
      <p:graphicFrame>
        <p:nvGraphicFramePr>
          <p:cNvPr id="6" name="Table 5">
            <a:extLst>
              <a:ext uri="{FF2B5EF4-FFF2-40B4-BE49-F238E27FC236}">
                <a16:creationId xmlns:a16="http://schemas.microsoft.com/office/drawing/2014/main" id="{4EF3E160-5958-4913-FA90-02B89CCE695A}"/>
              </a:ext>
            </a:extLst>
          </p:cNvPr>
          <p:cNvGraphicFramePr>
            <a:graphicFrameLocks noGrp="1"/>
          </p:cNvGraphicFramePr>
          <p:nvPr>
            <p:extLst>
              <p:ext uri="{D42A27DB-BD31-4B8C-83A1-F6EECF244321}">
                <p14:modId xmlns:p14="http://schemas.microsoft.com/office/powerpoint/2010/main" val="20664212"/>
              </p:ext>
            </p:extLst>
          </p:nvPr>
        </p:nvGraphicFramePr>
        <p:xfrm>
          <a:off x="311700" y="1379912"/>
          <a:ext cx="7967776" cy="1874521"/>
        </p:xfrm>
        <a:graphic>
          <a:graphicData uri="http://schemas.openxmlformats.org/drawingml/2006/table">
            <a:tbl>
              <a:tblPr firstRow="1" bandRow="1">
                <a:tableStyleId>{93296810-A885-4BE3-A3E7-6D5BEEA58F35}</a:tableStyleId>
              </a:tblPr>
              <a:tblGrid>
                <a:gridCol w="1452972">
                  <a:extLst>
                    <a:ext uri="{9D8B030D-6E8A-4147-A177-3AD203B41FA5}">
                      <a16:colId xmlns:a16="http://schemas.microsoft.com/office/drawing/2014/main" val="451253222"/>
                    </a:ext>
                  </a:extLst>
                </a:gridCol>
                <a:gridCol w="1296000">
                  <a:extLst>
                    <a:ext uri="{9D8B030D-6E8A-4147-A177-3AD203B41FA5}">
                      <a16:colId xmlns:a16="http://schemas.microsoft.com/office/drawing/2014/main" val="2192800641"/>
                    </a:ext>
                  </a:extLst>
                </a:gridCol>
                <a:gridCol w="1436461">
                  <a:extLst>
                    <a:ext uri="{9D8B030D-6E8A-4147-A177-3AD203B41FA5}">
                      <a16:colId xmlns:a16="http://schemas.microsoft.com/office/drawing/2014/main" val="934304816"/>
                    </a:ext>
                  </a:extLst>
                </a:gridCol>
                <a:gridCol w="1040198">
                  <a:extLst>
                    <a:ext uri="{9D8B030D-6E8A-4147-A177-3AD203B41FA5}">
                      <a16:colId xmlns:a16="http://schemas.microsoft.com/office/drawing/2014/main" val="3451182452"/>
                    </a:ext>
                  </a:extLst>
                </a:gridCol>
                <a:gridCol w="2742145">
                  <a:extLst>
                    <a:ext uri="{9D8B030D-6E8A-4147-A177-3AD203B41FA5}">
                      <a16:colId xmlns:a16="http://schemas.microsoft.com/office/drawing/2014/main" val="1856658362"/>
                    </a:ext>
                  </a:extLst>
                </a:gridCol>
              </a:tblGrid>
              <a:tr h="548641">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IN" dirty="0"/>
                        <a:t>Title</a:t>
                      </a:r>
                    </a:p>
                    <a:p>
                      <a:endParaRPr lang="en-IN" dirty="0"/>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IN" dirty="0"/>
                        <a:t>Authors</a:t>
                      </a:r>
                    </a:p>
                    <a:p>
                      <a:endParaRPr lang="en-IN" dirty="0"/>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IN" dirty="0"/>
                        <a:t>Publication</a:t>
                      </a:r>
                    </a:p>
                    <a:p>
                      <a:endParaRPr lang="en-IN" dirty="0"/>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IN" dirty="0"/>
                        <a:t>Year</a:t>
                      </a:r>
                    </a:p>
                    <a:p>
                      <a:endParaRPr lang="en-IN" dirty="0"/>
                    </a:p>
                  </a:txBody>
                  <a:tcPr/>
                </a:tc>
                <a:tc>
                  <a:txBody>
                    <a:bodyPr/>
                    <a:lstStyle/>
                    <a:p>
                      <a:r>
                        <a:rPr lang="en-IN" dirty="0"/>
                        <a:t>Outcome</a:t>
                      </a:r>
                    </a:p>
                  </a:txBody>
                  <a:tcPr/>
                </a:tc>
                <a:extLst>
                  <a:ext uri="{0D108BD9-81ED-4DB2-BD59-A6C34878D82A}">
                    <a16:rowId xmlns:a16="http://schemas.microsoft.com/office/drawing/2014/main" val="2601750702"/>
                  </a:ext>
                </a:extLst>
              </a:tr>
              <a:tr h="1321724">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dirty="0"/>
                        <a:t>Smart Disease Prediction System using Random Forest Algorithm</a:t>
                      </a:r>
                      <a:endParaRPr lang="en-IN" dirty="0"/>
                    </a:p>
                    <a:p>
                      <a:endParaRPr lang="en-IN" dirty="0"/>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dirty="0"/>
                        <a:t>A. N. V. K. L. S. V. D. S. S. N. Varma and others</a:t>
                      </a:r>
                      <a:endParaRPr lang="en-IN" dirty="0"/>
                    </a:p>
                    <a:p>
                      <a:endParaRPr lang="en-IN" dirty="0"/>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dirty="0"/>
                        <a:t>Journal of Intelligent Computing &amp; Health Informatics</a:t>
                      </a:r>
                      <a:endParaRPr lang="en-IN" dirty="0"/>
                    </a:p>
                    <a:p>
                      <a:endParaRPr lang="en-IN" dirty="0"/>
                    </a:p>
                  </a:txBody>
                  <a:tcPr/>
                </a:tc>
                <a:tc>
                  <a:txBody>
                    <a:bodyPr/>
                    <a:lstStyle/>
                    <a:p>
                      <a:r>
                        <a:rPr lang="en-IN" dirty="0"/>
                        <a:t>2021</a:t>
                      </a:r>
                    </a:p>
                  </a:txBody>
                  <a:tcPr/>
                </a:tc>
                <a:tc>
                  <a:txBody>
                    <a:bodyPr/>
                    <a:lstStyle/>
                    <a:p>
                      <a:pPr marL="285750" indent="-285750">
                        <a:buFont typeface="Arial" panose="020B0604020202020204" pitchFamily="34" charset="0"/>
                        <a:buChar char="•"/>
                      </a:pPr>
                      <a:r>
                        <a:rPr lang="en-US" dirty="0"/>
                        <a:t>Achieved 89.4% general prediction accuracy.</a:t>
                      </a:r>
                    </a:p>
                    <a:p>
                      <a:pPr marL="285750" indent="-285750">
                        <a:buFont typeface="Arial" panose="020B0604020202020204" pitchFamily="34" charset="0"/>
                        <a:buChar char="•"/>
                      </a:pPr>
                      <a:r>
                        <a:rPr lang="en-US" dirty="0"/>
                        <a:t>Achieved 75% specialized prediction accuracy using the Random Forest algorithm</a:t>
                      </a:r>
                      <a:endParaRPr lang="en-IN" dirty="0"/>
                    </a:p>
                  </a:txBody>
                  <a:tcPr/>
                </a:tc>
                <a:extLst>
                  <a:ext uri="{0D108BD9-81ED-4DB2-BD59-A6C34878D82A}">
                    <a16:rowId xmlns:a16="http://schemas.microsoft.com/office/drawing/2014/main" val="512559080"/>
                  </a:ext>
                </a:extLst>
              </a:tr>
            </a:tbl>
          </a:graphicData>
        </a:graphic>
      </p:graphicFrame>
    </p:spTree>
    <p:extLst>
      <p:ext uri="{BB962C8B-B14F-4D97-AF65-F5344CB8AC3E}">
        <p14:creationId xmlns:p14="http://schemas.microsoft.com/office/powerpoint/2010/main" val="2047068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latin typeface="Times New Roman" panose="02020603050405020304" pitchFamily="18" charset="0"/>
                <a:cs typeface="Times New Roman" panose="02020603050405020304" pitchFamily="18" charset="0"/>
              </a:rPr>
              <a:t>LITERATURE SURVEY-3</a:t>
            </a:r>
            <a:endParaRPr lang="en-IN" dirty="0"/>
          </a:p>
        </p:txBody>
      </p:sp>
      <p:graphicFrame>
        <p:nvGraphicFramePr>
          <p:cNvPr id="5" name="Table 4">
            <a:extLst>
              <a:ext uri="{FF2B5EF4-FFF2-40B4-BE49-F238E27FC236}">
                <a16:creationId xmlns:a16="http://schemas.microsoft.com/office/drawing/2014/main" id="{D78EF660-9379-A02E-137D-4220584BC940}"/>
              </a:ext>
            </a:extLst>
          </p:cNvPr>
          <p:cNvGraphicFramePr>
            <a:graphicFrameLocks noGrp="1"/>
          </p:cNvGraphicFramePr>
          <p:nvPr>
            <p:extLst>
              <p:ext uri="{D42A27DB-BD31-4B8C-83A1-F6EECF244321}">
                <p14:modId xmlns:p14="http://schemas.microsoft.com/office/powerpoint/2010/main" val="3171627864"/>
              </p:ext>
            </p:extLst>
          </p:nvPr>
        </p:nvGraphicFramePr>
        <p:xfrm>
          <a:off x="311700" y="1586482"/>
          <a:ext cx="8167282" cy="1845541"/>
        </p:xfrm>
        <a:graphic>
          <a:graphicData uri="http://schemas.openxmlformats.org/drawingml/2006/table">
            <a:tbl>
              <a:tblPr firstRow="1" bandRow="1">
                <a:tableStyleId>{93296810-A885-4BE3-A3E7-6D5BEEA58F35}</a:tableStyleId>
              </a:tblPr>
              <a:tblGrid>
                <a:gridCol w="1667533">
                  <a:extLst>
                    <a:ext uri="{9D8B030D-6E8A-4147-A177-3AD203B41FA5}">
                      <a16:colId xmlns:a16="http://schemas.microsoft.com/office/drawing/2014/main" val="3192325346"/>
                    </a:ext>
                  </a:extLst>
                </a:gridCol>
                <a:gridCol w="1667533">
                  <a:extLst>
                    <a:ext uri="{9D8B030D-6E8A-4147-A177-3AD203B41FA5}">
                      <a16:colId xmlns:a16="http://schemas.microsoft.com/office/drawing/2014/main" val="1680814652"/>
                    </a:ext>
                  </a:extLst>
                </a:gridCol>
                <a:gridCol w="1667533">
                  <a:extLst>
                    <a:ext uri="{9D8B030D-6E8A-4147-A177-3AD203B41FA5}">
                      <a16:colId xmlns:a16="http://schemas.microsoft.com/office/drawing/2014/main" val="1512000123"/>
                    </a:ext>
                  </a:extLst>
                </a:gridCol>
                <a:gridCol w="1065691">
                  <a:extLst>
                    <a:ext uri="{9D8B030D-6E8A-4147-A177-3AD203B41FA5}">
                      <a16:colId xmlns:a16="http://schemas.microsoft.com/office/drawing/2014/main" val="264046209"/>
                    </a:ext>
                  </a:extLst>
                </a:gridCol>
                <a:gridCol w="2098992">
                  <a:extLst>
                    <a:ext uri="{9D8B030D-6E8A-4147-A177-3AD203B41FA5}">
                      <a16:colId xmlns:a16="http://schemas.microsoft.com/office/drawing/2014/main" val="3725475265"/>
                    </a:ext>
                  </a:extLst>
                </a:gridCol>
              </a:tblGrid>
              <a:tr h="519661">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IN" dirty="0"/>
                        <a:t>Title</a:t>
                      </a:r>
                    </a:p>
                    <a:p>
                      <a:endParaRPr lang="en-IN" dirty="0"/>
                    </a:p>
                  </a:txBody>
                  <a:tcPr/>
                </a:tc>
                <a:tc>
                  <a:txBody>
                    <a:bodyPr/>
                    <a:lstStyle/>
                    <a:p>
                      <a:r>
                        <a:rPr lang="en-IN" dirty="0"/>
                        <a:t>Author</a:t>
                      </a:r>
                    </a:p>
                  </a:txBody>
                  <a:tcPr/>
                </a:tc>
                <a:tc>
                  <a:txBody>
                    <a:bodyPr/>
                    <a:lstStyle/>
                    <a:p>
                      <a:r>
                        <a:rPr lang="en-IN" dirty="0"/>
                        <a:t>Publication</a:t>
                      </a:r>
                    </a:p>
                  </a:txBody>
                  <a:tcPr/>
                </a:tc>
                <a:tc>
                  <a:txBody>
                    <a:bodyPr/>
                    <a:lstStyle/>
                    <a:p>
                      <a:r>
                        <a:rPr lang="en-IN" dirty="0"/>
                        <a:t>Year</a:t>
                      </a:r>
                    </a:p>
                  </a:txBody>
                  <a:tcPr/>
                </a:tc>
                <a:tc>
                  <a:txBody>
                    <a:bodyPr/>
                    <a:lstStyle/>
                    <a:p>
                      <a:r>
                        <a:rPr lang="en-IN" dirty="0"/>
                        <a:t>Outcome</a:t>
                      </a:r>
                    </a:p>
                  </a:txBody>
                  <a:tcPr/>
                </a:tc>
                <a:extLst>
                  <a:ext uri="{0D108BD9-81ED-4DB2-BD59-A6C34878D82A}">
                    <a16:rowId xmlns:a16="http://schemas.microsoft.com/office/drawing/2014/main" val="4145115381"/>
                  </a:ext>
                </a:extLst>
              </a:tr>
              <a:tr h="1063745">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endParaRPr lang="en-US" dirty="0"/>
                    </a:p>
                    <a:p>
                      <a:pPr marL="0" marR="0" lvl="0" indent="0" algn="ctr" defTabSz="342900" rtl="0" eaLnBrk="1" fontAlgn="auto" latinLnBrk="0" hangingPunct="1">
                        <a:lnSpc>
                          <a:spcPct val="100000"/>
                        </a:lnSpc>
                        <a:spcBef>
                          <a:spcPts val="0"/>
                        </a:spcBef>
                        <a:spcAft>
                          <a:spcPts val="0"/>
                        </a:spcAft>
                        <a:buClrTx/>
                        <a:buSzTx/>
                        <a:buFontTx/>
                        <a:buNone/>
                        <a:tabLst/>
                        <a:defRPr/>
                      </a:pPr>
                      <a:r>
                        <a:rPr lang="en-US" dirty="0"/>
                        <a:t>Heart Disease Prediction using Hybrid ML Model</a:t>
                      </a:r>
                      <a:endParaRPr lang="en-IN" dirty="0"/>
                    </a:p>
                    <a:p>
                      <a:endParaRPr lang="en-IN" dirty="0"/>
                    </a:p>
                  </a:txBody>
                  <a:tcPr/>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endParaRPr lang="en-IN" dirty="0"/>
                    </a:p>
                    <a:p>
                      <a:pPr marL="0" marR="0" lvl="0" indent="0" algn="ctr" defTabSz="342900" rtl="0" eaLnBrk="1" fontAlgn="auto" latinLnBrk="0" hangingPunct="1">
                        <a:lnSpc>
                          <a:spcPct val="100000"/>
                        </a:lnSpc>
                        <a:spcBef>
                          <a:spcPts val="0"/>
                        </a:spcBef>
                        <a:spcAft>
                          <a:spcPts val="0"/>
                        </a:spcAft>
                        <a:buClrTx/>
                        <a:buSzTx/>
                        <a:buFontTx/>
                        <a:buNone/>
                        <a:tabLst/>
                        <a:defRPr/>
                      </a:pPr>
                      <a:r>
                        <a:rPr lang="en-IN" dirty="0"/>
                        <a:t>Dr. M. Kavitha, G. </a:t>
                      </a:r>
                      <a:r>
                        <a:rPr lang="en-IN" dirty="0" err="1"/>
                        <a:t>Gruneswar</a:t>
                      </a:r>
                      <a:r>
                        <a:rPr lang="en-IN" dirty="0"/>
                        <a:t>, R. Dinesh, Y. Rohith Sai, R. Sai Suraj</a:t>
                      </a:r>
                    </a:p>
                    <a:p>
                      <a:endParaRPr lang="en-IN" dirty="0"/>
                    </a:p>
                  </a:txBody>
                  <a:tcPr/>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endParaRPr lang="en-US" dirty="0"/>
                    </a:p>
                    <a:p>
                      <a:pPr marL="0" marR="0" lvl="0" indent="0" algn="ctr" defTabSz="342900" rtl="0" eaLnBrk="1" fontAlgn="auto" latinLnBrk="0" hangingPunct="1">
                        <a:lnSpc>
                          <a:spcPct val="100000"/>
                        </a:lnSpc>
                        <a:spcBef>
                          <a:spcPts val="0"/>
                        </a:spcBef>
                        <a:spcAft>
                          <a:spcPts val="0"/>
                        </a:spcAft>
                        <a:buClrTx/>
                        <a:buSzTx/>
                        <a:buFontTx/>
                        <a:buNone/>
                        <a:tabLst/>
                        <a:defRPr/>
                      </a:pPr>
                      <a:r>
                        <a:rPr lang="en-US" dirty="0"/>
                        <a:t>IEEE Conference on Intelligence  Healthcare</a:t>
                      </a:r>
                      <a:endParaRPr lang="en-IN" dirty="0"/>
                    </a:p>
                    <a:p>
                      <a:endParaRPr lang="en-IN" dirty="0"/>
                    </a:p>
                  </a:txBody>
                  <a:tcPr/>
                </a:tc>
                <a:tc>
                  <a:txBody>
                    <a:bodyPr/>
                    <a:lstStyle/>
                    <a:p>
                      <a:pPr algn="ctr"/>
                      <a:endParaRPr lang="en-IN" dirty="0"/>
                    </a:p>
                    <a:p>
                      <a:pPr algn="ctr"/>
                      <a:endParaRPr lang="en-IN" dirty="0"/>
                    </a:p>
                    <a:p>
                      <a:pPr algn="ctr"/>
                      <a:r>
                        <a:rPr lang="en-IN" dirty="0"/>
                        <a:t>2021</a:t>
                      </a:r>
                    </a:p>
                  </a:txBody>
                  <a:tcPr/>
                </a:tc>
                <a:tc>
                  <a:txBody>
                    <a:bodyPr/>
                    <a:lstStyle/>
                    <a:p>
                      <a:pPr marL="285750" marR="0" lvl="0" indent="-285750" algn="just"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Combined Decision </a:t>
                      </a:r>
                      <a:r>
                        <a:rPr lang="en-US" dirty="0" err="1"/>
                        <a:t>Tree,Random</a:t>
                      </a:r>
                      <a:r>
                        <a:rPr lang="en-US" dirty="0"/>
                        <a:t> Forest, and Support Vector Machine for hybrid prediction</a:t>
                      </a:r>
                      <a:endParaRPr lang="en-IN" dirty="0"/>
                    </a:p>
                    <a:p>
                      <a:endParaRPr lang="en-IN" dirty="0"/>
                    </a:p>
                  </a:txBody>
                  <a:tcPr/>
                </a:tc>
                <a:extLst>
                  <a:ext uri="{0D108BD9-81ED-4DB2-BD59-A6C34878D82A}">
                    <a16:rowId xmlns:a16="http://schemas.microsoft.com/office/drawing/2014/main" val="3313306036"/>
                  </a:ext>
                </a:extLst>
              </a:tr>
            </a:tbl>
          </a:graphicData>
        </a:graphic>
      </p:graphicFrame>
    </p:spTree>
    <p:extLst>
      <p:ext uri="{BB962C8B-B14F-4D97-AF65-F5344CB8AC3E}">
        <p14:creationId xmlns:p14="http://schemas.microsoft.com/office/powerpoint/2010/main" val="2829529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07D82-74C7-CF71-FBF1-B278B00C85B1}"/>
              </a:ext>
            </a:extLst>
          </p:cNvPr>
          <p:cNvSpPr>
            <a:spLocks noGrp="1"/>
          </p:cNvSpPr>
          <p:nvPr>
            <p:ph type="title"/>
          </p:nvPr>
        </p:nvSpPr>
        <p:spPr>
          <a:xfrm>
            <a:off x="920263" y="66907"/>
            <a:ext cx="9141929" cy="3962636"/>
          </a:xfrm>
        </p:spPr>
        <p:txBody>
          <a:bodyPr>
            <a:normAutofit/>
          </a:bodyPr>
          <a:lstStyle/>
          <a:p>
            <a:r>
              <a:rPr lang="en-IN" sz="2000" b="1" u="sng" dirty="0">
                <a:solidFill>
                  <a:schemeClr val="accent5"/>
                </a:solidFill>
                <a:latin typeface="Times New Roman" panose="02020603050405020304" pitchFamily="18" charset="0"/>
                <a:cs typeface="Times New Roman" panose="02020603050405020304" pitchFamily="18" charset="0"/>
              </a:rPr>
              <a:t>1.SYSTEM ARCHITECTURE</a:t>
            </a:r>
            <a:br>
              <a:rPr lang="en-IN" sz="2000" b="1" dirty="0">
                <a:solidFill>
                  <a:schemeClr val="accent1">
                    <a:lumMod val="75000"/>
                  </a:schemeClr>
                </a:solidFill>
                <a:latin typeface="Times New Roman" panose="02020603050405020304" pitchFamily="18" charset="0"/>
                <a:cs typeface="Times New Roman" panose="02020603050405020304" pitchFamily="18" charset="0"/>
              </a:rPr>
            </a:br>
            <a:br>
              <a:rPr lang="en-IN" sz="2800" b="1" u="sng" dirty="0">
                <a:solidFill>
                  <a:schemeClr val="accent1">
                    <a:lumMod val="75000"/>
                  </a:schemeClr>
                </a:solidFill>
                <a:latin typeface="Times New Roman" panose="02020603050405020304" pitchFamily="18" charset="0"/>
                <a:cs typeface="Times New Roman" panose="02020603050405020304" pitchFamily="18" charset="0"/>
              </a:rPr>
            </a:br>
            <a:br>
              <a:rPr lang="en-IN" sz="2800" b="1" u="sng" dirty="0">
                <a:solidFill>
                  <a:schemeClr val="accent1">
                    <a:lumMod val="75000"/>
                  </a:schemeClr>
                </a:solidFill>
                <a:latin typeface="Times New Roman" panose="02020603050405020304" pitchFamily="18" charset="0"/>
                <a:cs typeface="Times New Roman" panose="02020603050405020304" pitchFamily="18" charset="0"/>
              </a:rPr>
            </a:br>
            <a:br>
              <a:rPr lang="en-IN" sz="3200" b="1" dirty="0">
                <a:solidFill>
                  <a:schemeClr val="accent1">
                    <a:lumMod val="75000"/>
                  </a:schemeClr>
                </a:solidFill>
                <a:latin typeface="Times New Roman" panose="02020603050405020304" pitchFamily="18" charset="0"/>
                <a:cs typeface="Times New Roman" panose="02020603050405020304" pitchFamily="18" charset="0"/>
              </a:rPr>
            </a:br>
            <a:endParaRPr lang="en-US" dirty="0"/>
          </a:p>
        </p:txBody>
      </p:sp>
      <p:pic>
        <p:nvPicPr>
          <p:cNvPr id="5" name="Picture 4">
            <a:extLst>
              <a:ext uri="{FF2B5EF4-FFF2-40B4-BE49-F238E27FC236}">
                <a16:creationId xmlns:a16="http://schemas.microsoft.com/office/drawing/2014/main" id="{3CCDF502-AB04-1B72-D21B-EAD282DDA5A7}"/>
              </a:ext>
            </a:extLst>
          </p:cNvPr>
          <p:cNvPicPr>
            <a:picLocks noChangeAspect="1"/>
          </p:cNvPicPr>
          <p:nvPr/>
        </p:nvPicPr>
        <p:blipFill>
          <a:blip r:embed="rId3"/>
          <a:stretch>
            <a:fillRect/>
          </a:stretch>
        </p:blipFill>
        <p:spPr>
          <a:xfrm>
            <a:off x="2286000" y="772044"/>
            <a:ext cx="4405745" cy="3866458"/>
          </a:xfrm>
          <a:prstGeom prst="rect">
            <a:avLst/>
          </a:prstGeom>
        </p:spPr>
      </p:pic>
      <p:sp>
        <p:nvSpPr>
          <p:cNvPr id="11" name="TextBox 10">
            <a:extLst>
              <a:ext uri="{FF2B5EF4-FFF2-40B4-BE49-F238E27FC236}">
                <a16:creationId xmlns:a16="http://schemas.microsoft.com/office/drawing/2014/main" id="{DC9DED66-D9E5-B93D-8113-0894A4C370BB}"/>
              </a:ext>
            </a:extLst>
          </p:cNvPr>
          <p:cNvSpPr txBox="1"/>
          <p:nvPr/>
        </p:nvSpPr>
        <p:spPr>
          <a:xfrm>
            <a:off x="2057400" y="4638502"/>
            <a:ext cx="5029200"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Figure 1: System Architecture Diagram</a:t>
            </a:r>
            <a:endParaRPr lang="en-IN" dirty="0"/>
          </a:p>
        </p:txBody>
      </p:sp>
    </p:spTree>
    <p:extLst>
      <p:ext uri="{BB962C8B-B14F-4D97-AF65-F5344CB8AC3E}">
        <p14:creationId xmlns:p14="http://schemas.microsoft.com/office/powerpoint/2010/main" val="1499418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7765-3781-4B8B-F54C-94006B70BF89}"/>
              </a:ext>
            </a:extLst>
          </p:cNvPr>
          <p:cNvSpPr>
            <a:spLocks noGrp="1"/>
          </p:cNvSpPr>
          <p:nvPr>
            <p:ph type="title"/>
          </p:nvPr>
        </p:nvSpPr>
        <p:spPr>
          <a:xfrm>
            <a:off x="311700" y="182880"/>
            <a:ext cx="8520600" cy="834920"/>
          </a:xfrm>
        </p:spPr>
        <p:txBody>
          <a:bodyPr>
            <a:normAutofit fontScale="90000"/>
          </a:bodyPr>
          <a:lstStyle/>
          <a:p>
            <a:r>
              <a:rPr lang="en-US" b="1" u="sng" dirty="0">
                <a:solidFill>
                  <a:schemeClr val="accent5"/>
                </a:solidFill>
                <a:latin typeface="Times New Roman" panose="02020603050405020304" pitchFamily="18" charset="0"/>
                <a:cs typeface="Times New Roman" panose="02020603050405020304" pitchFamily="18" charset="0"/>
              </a:rPr>
              <a:t>2.DATA  FLOW DIAGRAM</a:t>
            </a:r>
            <a:br>
              <a:rPr lang="en-US" b="1" u="sng" dirty="0">
                <a:solidFill>
                  <a:schemeClr val="accent5"/>
                </a:solidFill>
                <a:latin typeface="Times New Roman" panose="02020603050405020304" pitchFamily="18" charset="0"/>
                <a:cs typeface="Times New Roman" panose="02020603050405020304" pitchFamily="18" charset="0"/>
              </a:rPr>
            </a:br>
            <a:br>
              <a:rPr lang="en-US" b="1" u="sng" dirty="0">
                <a:solidFill>
                  <a:schemeClr val="accent5"/>
                </a:solidFill>
                <a:latin typeface="Times New Roman" panose="02020603050405020304" pitchFamily="18" charset="0"/>
                <a:cs typeface="Times New Roman" panose="02020603050405020304" pitchFamily="18" charset="0"/>
              </a:rPr>
            </a:br>
            <a:br>
              <a:rPr lang="en-US" b="1" u="sng" dirty="0">
                <a:solidFill>
                  <a:schemeClr val="accent5"/>
                </a:solidFill>
                <a:latin typeface="Times New Roman" panose="02020603050405020304" pitchFamily="18" charset="0"/>
                <a:cs typeface="Times New Roman" panose="02020603050405020304" pitchFamily="18" charset="0"/>
              </a:rPr>
            </a:br>
            <a:br>
              <a:rPr lang="en-US" sz="3200" b="1" dirty="0">
                <a:solidFill>
                  <a:schemeClr val="accent1">
                    <a:lumMod val="75000"/>
                  </a:schemeClr>
                </a:solidFill>
              </a:rPr>
            </a:br>
            <a:endParaRPr lang="en-US" dirty="0"/>
          </a:p>
        </p:txBody>
      </p:sp>
      <p:sp>
        <p:nvSpPr>
          <p:cNvPr id="3" name="Text Placeholder 2">
            <a:extLst>
              <a:ext uri="{FF2B5EF4-FFF2-40B4-BE49-F238E27FC236}">
                <a16:creationId xmlns:a16="http://schemas.microsoft.com/office/drawing/2014/main" id="{04C6382F-3B58-A46A-557D-5DE4F7059566}"/>
              </a:ext>
            </a:extLst>
          </p:cNvPr>
          <p:cNvSpPr>
            <a:spLocks noGrp="1"/>
          </p:cNvSpPr>
          <p:nvPr>
            <p:ph type="body" idx="1"/>
          </p:nvPr>
        </p:nvSpPr>
        <p:spPr>
          <a:xfrm>
            <a:off x="878378" y="4364182"/>
            <a:ext cx="7654664" cy="596438"/>
          </a:xfrm>
        </p:spPr>
        <p:txBody>
          <a:bodyPr>
            <a:noAutofit/>
          </a:bodyPr>
          <a:lstStyle/>
          <a:p>
            <a:pPr marL="114300" indent="0" algn="ctr">
              <a:buNone/>
            </a:pPr>
            <a:r>
              <a:rPr lang="en-US" sz="1200" dirty="0"/>
              <a:t> </a:t>
            </a:r>
            <a:r>
              <a:rPr lang="en-US" sz="1600" dirty="0">
                <a:latin typeface="Times New Roman" panose="02020603050405020304" pitchFamily="18" charset="0"/>
                <a:cs typeface="Times New Roman" panose="02020603050405020304" pitchFamily="18" charset="0"/>
              </a:rPr>
              <a:t>Figure 2 : Data flow diagram </a:t>
            </a:r>
            <a:endParaRPr lang="en-US" sz="1600" b="1" dirty="0">
              <a:solidFill>
                <a:schemeClr val="tx1"/>
              </a:solidFill>
              <a:latin typeface="Times New Roman" panose="02020603050405020304" pitchFamily="18" charset="0"/>
              <a:cs typeface="Times New Roman" panose="02020603050405020304" pitchFamily="18" charset="0"/>
            </a:endParaRPr>
          </a:p>
        </p:txBody>
      </p:sp>
      <p:pic>
        <p:nvPicPr>
          <p:cNvPr id="4" name="Image 14">
            <a:extLst>
              <a:ext uri="{FF2B5EF4-FFF2-40B4-BE49-F238E27FC236}">
                <a16:creationId xmlns:a16="http://schemas.microsoft.com/office/drawing/2014/main" id="{1CD9794B-47E2-E3F0-056D-E139671C8E84}"/>
              </a:ext>
            </a:extLst>
          </p:cNvPr>
          <p:cNvPicPr>
            <a:picLocks/>
          </p:cNvPicPr>
          <p:nvPr/>
        </p:nvPicPr>
        <p:blipFill>
          <a:blip r:embed="rId2" cstate="print"/>
          <a:stretch>
            <a:fillRect/>
          </a:stretch>
        </p:blipFill>
        <p:spPr>
          <a:xfrm>
            <a:off x="1155469" y="1218565"/>
            <a:ext cx="5793971" cy="2706370"/>
          </a:xfrm>
          <a:prstGeom prst="rect">
            <a:avLst/>
          </a:prstGeom>
        </p:spPr>
      </p:pic>
    </p:spTree>
    <p:extLst>
      <p:ext uri="{BB962C8B-B14F-4D97-AF65-F5344CB8AC3E}">
        <p14:creationId xmlns:p14="http://schemas.microsoft.com/office/powerpoint/2010/main" val="961358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8C65B-9D0D-6EEE-B1F8-6DC152862502}"/>
              </a:ext>
            </a:extLst>
          </p:cNvPr>
          <p:cNvSpPr>
            <a:spLocks noGrp="1"/>
          </p:cNvSpPr>
          <p:nvPr>
            <p:ph type="title"/>
          </p:nvPr>
        </p:nvSpPr>
        <p:spPr/>
        <p:txBody>
          <a:bodyPr>
            <a:normAutofit/>
          </a:bodyPr>
          <a:lstStyle/>
          <a:p>
            <a:r>
              <a:rPr lang="en-US" sz="2400" b="1" u="sng" dirty="0">
                <a:solidFill>
                  <a:schemeClr val="accent5"/>
                </a:solidFill>
                <a:latin typeface="Times New Roman" panose="02020603050405020304" pitchFamily="18" charset="0"/>
                <a:cs typeface="Times New Roman" panose="02020603050405020304" pitchFamily="18" charset="0"/>
              </a:rPr>
              <a:t>3.STATE CHART DIAGRAM  </a:t>
            </a:r>
            <a:endParaRPr lang="en-US" sz="2400" u="sng" dirty="0">
              <a:solidFill>
                <a:schemeClr val="accent5"/>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AA2A116-5CE2-CAD6-56EB-A61F56058718}"/>
              </a:ext>
            </a:extLst>
          </p:cNvPr>
          <p:cNvSpPr>
            <a:spLocks noGrp="1"/>
          </p:cNvSpPr>
          <p:nvPr>
            <p:ph type="body" idx="1"/>
          </p:nvPr>
        </p:nvSpPr>
        <p:spPr>
          <a:xfrm>
            <a:off x="2036618" y="4315691"/>
            <a:ext cx="6795682" cy="253184"/>
          </a:xfrm>
        </p:spPr>
        <p:txBody>
          <a:bodyPr>
            <a:noAutofit/>
          </a:bodyPr>
          <a:lstStyle/>
          <a:p>
            <a:pPr marL="114300" indent="0">
              <a:buNone/>
            </a:pPr>
            <a:r>
              <a:rPr lang="en-US" sz="1200" b="1" dirty="0">
                <a:solidFill>
                  <a:schemeClr val="tx1"/>
                </a:solidFill>
                <a:latin typeface="Times New Roman" panose="02020603050405020304" pitchFamily="18" charset="0"/>
                <a:cs typeface="Times New Roman" panose="02020603050405020304" pitchFamily="18" charset="0"/>
              </a:rPr>
              <a:t>				</a:t>
            </a:r>
            <a:r>
              <a:rPr lang="en-US" sz="1600" dirty="0">
                <a:solidFill>
                  <a:schemeClr val="tx1"/>
                </a:solidFill>
                <a:latin typeface="Times New Roman" panose="02020603050405020304" pitchFamily="18" charset="0"/>
                <a:cs typeface="Times New Roman" panose="02020603050405020304" pitchFamily="18" charset="0"/>
              </a:rPr>
              <a:t>Figure 3 : State Chart Diagram</a:t>
            </a:r>
          </a:p>
        </p:txBody>
      </p:sp>
      <p:pic>
        <p:nvPicPr>
          <p:cNvPr id="4" name="Picture 3">
            <a:extLst>
              <a:ext uri="{FF2B5EF4-FFF2-40B4-BE49-F238E27FC236}">
                <a16:creationId xmlns:a16="http://schemas.microsoft.com/office/drawing/2014/main" id="{863A3E9E-3BCA-1CC0-CCAB-0586D4CBC4F5}"/>
              </a:ext>
            </a:extLst>
          </p:cNvPr>
          <p:cNvPicPr>
            <a:picLocks noChangeAspect="1"/>
          </p:cNvPicPr>
          <p:nvPr/>
        </p:nvPicPr>
        <p:blipFill>
          <a:blip r:embed="rId2"/>
          <a:stretch>
            <a:fillRect/>
          </a:stretch>
        </p:blipFill>
        <p:spPr>
          <a:xfrm>
            <a:off x="424275" y="1135380"/>
            <a:ext cx="8295450" cy="2872740"/>
          </a:xfrm>
          <a:prstGeom prst="rect">
            <a:avLst/>
          </a:prstGeom>
        </p:spPr>
      </p:pic>
    </p:spTree>
    <p:extLst>
      <p:ext uri="{BB962C8B-B14F-4D97-AF65-F5344CB8AC3E}">
        <p14:creationId xmlns:p14="http://schemas.microsoft.com/office/powerpoint/2010/main" val="2671358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E6B76-34C6-7ECC-EB3C-FBA9E1AD7AB7}"/>
              </a:ext>
            </a:extLst>
          </p:cNvPr>
          <p:cNvSpPr>
            <a:spLocks noGrp="1"/>
          </p:cNvSpPr>
          <p:nvPr>
            <p:ph type="title"/>
          </p:nvPr>
        </p:nvSpPr>
        <p:spPr/>
        <p:txBody>
          <a:bodyPr>
            <a:normAutofit fontScale="90000"/>
          </a:bodyPr>
          <a:lstStyle/>
          <a:p>
            <a:r>
              <a:rPr lang="en-US" b="1" u="sng" dirty="0">
                <a:solidFill>
                  <a:schemeClr val="accent1">
                    <a:lumMod val="75000"/>
                  </a:schemeClr>
                </a:solidFill>
                <a:latin typeface="Times New Roman" panose="02020603050405020304" pitchFamily="18" charset="0"/>
                <a:ea typeface="Roboto" panose="02000000000000000000" pitchFamily="2" charset="0"/>
                <a:cs typeface="Times New Roman" panose="02020603050405020304" pitchFamily="18" charset="0"/>
              </a:rPr>
              <a:t>SOFTWARE</a:t>
            </a:r>
            <a:r>
              <a:rPr lang="en-US" b="1" u="sng" dirty="0">
                <a:solidFill>
                  <a:schemeClr val="accent1">
                    <a:lumMod val="75000"/>
                  </a:schemeClr>
                </a:solidFill>
              </a:rPr>
              <a:t> </a:t>
            </a:r>
            <a:r>
              <a:rPr lang="en-US" b="1" u="sng" dirty="0">
                <a:solidFill>
                  <a:schemeClr val="accent1">
                    <a:lumMod val="75000"/>
                  </a:schemeClr>
                </a:solidFill>
                <a:latin typeface="Times New Roman" panose="02020603050405020304" pitchFamily="18" charset="0"/>
                <a:cs typeface="Times New Roman" panose="02020603050405020304" pitchFamily="18" charset="0"/>
              </a:rPr>
              <a:t>REQUIREMENTS </a:t>
            </a:r>
            <a:br>
              <a:rPr lang="en-US" b="1" dirty="0">
                <a:solidFill>
                  <a:schemeClr val="accent1">
                    <a:lumMod val="75000"/>
                  </a:schemeClr>
                </a:solidFill>
              </a:rPr>
            </a:br>
            <a:br>
              <a:rPr lang="en-US" b="1" dirty="0">
                <a:solidFill>
                  <a:schemeClr val="accent1">
                    <a:lumMod val="75000"/>
                  </a:schemeClr>
                </a:solidFill>
              </a:rPr>
            </a:br>
            <a:endParaRPr lang="en-US" dirty="0"/>
          </a:p>
        </p:txBody>
      </p:sp>
      <p:graphicFrame>
        <p:nvGraphicFramePr>
          <p:cNvPr id="7" name="Table 6">
            <a:extLst>
              <a:ext uri="{FF2B5EF4-FFF2-40B4-BE49-F238E27FC236}">
                <a16:creationId xmlns:a16="http://schemas.microsoft.com/office/drawing/2014/main" id="{DCBC5DE2-B795-1B7C-E807-ABFB5CD72E08}"/>
              </a:ext>
            </a:extLst>
          </p:cNvPr>
          <p:cNvGraphicFramePr>
            <a:graphicFrameLocks noGrp="1"/>
          </p:cNvGraphicFramePr>
          <p:nvPr>
            <p:extLst>
              <p:ext uri="{D42A27DB-BD31-4B8C-83A1-F6EECF244321}">
                <p14:modId xmlns:p14="http://schemas.microsoft.com/office/powerpoint/2010/main" val="2854699936"/>
              </p:ext>
            </p:extLst>
          </p:nvPr>
        </p:nvGraphicFramePr>
        <p:xfrm>
          <a:off x="607551" y="1127760"/>
          <a:ext cx="6248400" cy="3672840"/>
        </p:xfrm>
        <a:graphic>
          <a:graphicData uri="http://schemas.openxmlformats.org/drawingml/2006/table">
            <a:tbl>
              <a:tblPr firstRow="1" lastRow="1" bandRow="1">
                <a:tableStyleId>{21E4AEA4-8DFA-4A89-87EB-49C32662AFE0}</a:tableStyleId>
              </a:tblPr>
              <a:tblGrid>
                <a:gridCol w="3104649">
                  <a:extLst>
                    <a:ext uri="{9D8B030D-6E8A-4147-A177-3AD203B41FA5}">
                      <a16:colId xmlns:a16="http://schemas.microsoft.com/office/drawing/2014/main" val="3892039195"/>
                    </a:ext>
                  </a:extLst>
                </a:gridCol>
                <a:gridCol w="3143751">
                  <a:extLst>
                    <a:ext uri="{9D8B030D-6E8A-4147-A177-3AD203B41FA5}">
                      <a16:colId xmlns:a16="http://schemas.microsoft.com/office/drawing/2014/main" val="1116106694"/>
                    </a:ext>
                  </a:extLst>
                </a:gridCol>
              </a:tblGrid>
              <a:tr h="3672840">
                <a:tc>
                  <a:txBody>
                    <a:bodyPr/>
                    <a:lstStyle/>
                    <a:p>
                      <a:pPr algn="ctr"/>
                      <a:r>
                        <a:rPr lang="en-IN" dirty="0"/>
                        <a:t>  </a:t>
                      </a:r>
                      <a:r>
                        <a:rPr lang="en-IN" sz="1800" dirty="0"/>
                        <a:t>Category</a:t>
                      </a:r>
                    </a:p>
                    <a:p>
                      <a:pPr algn="ctr"/>
                      <a:endParaRPr lang="en-IN" sz="1800" dirty="0"/>
                    </a:p>
                    <a:p>
                      <a:pPr algn="ctr"/>
                      <a:r>
                        <a:rPr lang="en-IN" sz="1400" dirty="0"/>
                        <a:t>Frontend</a:t>
                      </a:r>
                    </a:p>
                    <a:p>
                      <a:pPr algn="ctr"/>
                      <a:endParaRPr lang="en-IN" sz="1400" dirty="0"/>
                    </a:p>
                    <a:p>
                      <a:pPr algn="ctr"/>
                      <a:endParaRPr lang="en-IN" sz="1400" dirty="0"/>
                    </a:p>
                    <a:p>
                      <a:pPr algn="ctr"/>
                      <a:r>
                        <a:rPr lang="en-IN" dirty="0"/>
                        <a:t>Backend</a:t>
                      </a:r>
                    </a:p>
                    <a:p>
                      <a:pPr algn="ctr"/>
                      <a:endParaRPr lang="en-IN" sz="1400" dirty="0"/>
                    </a:p>
                    <a:p>
                      <a:pPr algn="ctr"/>
                      <a:r>
                        <a:rPr lang="en-IN" dirty="0"/>
                        <a:t>ML Frameworks</a:t>
                      </a:r>
                    </a:p>
                    <a:p>
                      <a:pPr algn="ctr"/>
                      <a:endParaRPr lang="en-IN" sz="1400" dirty="0"/>
                    </a:p>
                    <a:p>
                      <a:pPr algn="ctr"/>
                      <a:endParaRPr lang="en-IN" dirty="0"/>
                    </a:p>
                    <a:p>
                      <a:pPr algn="ctr"/>
                      <a:r>
                        <a:rPr lang="en-IN" dirty="0"/>
                        <a:t>Models Used</a:t>
                      </a:r>
                    </a:p>
                    <a:p>
                      <a:pPr algn="ctr"/>
                      <a:endParaRPr lang="en-IN" sz="1400" dirty="0"/>
                    </a:p>
                    <a:p>
                      <a:pPr algn="ctr"/>
                      <a:endParaRPr lang="en-IN" sz="1400" dirty="0"/>
                    </a:p>
                    <a:p>
                      <a:pPr algn="ctr"/>
                      <a:r>
                        <a:rPr lang="en-IN" dirty="0"/>
                        <a:t>Other Libraries</a:t>
                      </a:r>
                      <a:endParaRPr lang="en-IN" sz="1400" dirty="0"/>
                    </a:p>
                  </a:txBody>
                  <a:tcPr/>
                </a:tc>
                <a:tc>
                  <a:txBody>
                    <a:bodyPr/>
                    <a:lstStyle/>
                    <a:p>
                      <a:pPr algn="ctr"/>
                      <a:r>
                        <a:rPr lang="en-IN" sz="1800" dirty="0"/>
                        <a:t>     Tools and Models</a:t>
                      </a:r>
                    </a:p>
                    <a:p>
                      <a:pPr algn="ctr"/>
                      <a:endParaRPr lang="en-IN" sz="1800" dirty="0"/>
                    </a:p>
                    <a:p>
                      <a:pPr algn="ctr"/>
                      <a:r>
                        <a:rPr lang="en-IN" sz="1400" dirty="0"/>
                        <a:t>React.js</a:t>
                      </a:r>
                    </a:p>
                    <a:p>
                      <a:pPr algn="ctr"/>
                      <a:endParaRPr lang="en-IN" sz="1800" dirty="0"/>
                    </a:p>
                    <a:p>
                      <a:pPr algn="ctr"/>
                      <a:r>
                        <a:rPr lang="en-IN" sz="1400" dirty="0"/>
                        <a:t>Python, Flask</a:t>
                      </a:r>
                    </a:p>
                    <a:p>
                      <a:pPr algn="ctr"/>
                      <a:endParaRPr lang="en-IN" sz="1800" dirty="0"/>
                    </a:p>
                    <a:p>
                      <a:pPr algn="ctr"/>
                      <a:r>
                        <a:rPr lang="en-IN" sz="1400" dirty="0"/>
                        <a:t>Scikit-learn, </a:t>
                      </a:r>
                      <a:r>
                        <a:rPr lang="en-IN" sz="1400" dirty="0" err="1"/>
                        <a:t>XGBoost</a:t>
                      </a:r>
                      <a:r>
                        <a:rPr lang="en-IN" sz="1400" dirty="0"/>
                        <a:t>, </a:t>
                      </a:r>
                      <a:r>
                        <a:rPr lang="en-IN" sz="1400" dirty="0" err="1"/>
                        <a:t>RDKit</a:t>
                      </a:r>
                      <a:endParaRPr lang="en-IN" sz="1400" dirty="0"/>
                    </a:p>
                    <a:p>
                      <a:pPr algn="ctr"/>
                      <a:endParaRPr lang="en-IN" sz="1400" dirty="0"/>
                    </a:p>
                    <a:p>
                      <a:pPr algn="ctr"/>
                      <a:endParaRPr lang="en-IN" sz="1400" dirty="0"/>
                    </a:p>
                    <a:p>
                      <a:pPr algn="ctr"/>
                      <a:r>
                        <a:rPr lang="en-IN" dirty="0"/>
                        <a:t>Random Forest, </a:t>
                      </a:r>
                      <a:r>
                        <a:rPr lang="en-IN" dirty="0" err="1"/>
                        <a:t>XGBoost</a:t>
                      </a:r>
                      <a:r>
                        <a:rPr lang="en-IN" dirty="0"/>
                        <a:t>, SVM, Logistic Regression</a:t>
                      </a:r>
                    </a:p>
                    <a:p>
                      <a:pPr algn="ctr"/>
                      <a:endParaRPr lang="en-IN" sz="1400" dirty="0"/>
                    </a:p>
                    <a:p>
                      <a:pPr algn="ctr"/>
                      <a:r>
                        <a:rPr lang="en-IN" dirty="0"/>
                        <a:t>Pandas, NumPy, Matplotlib, Seaborn, Pickle, </a:t>
                      </a:r>
                      <a:r>
                        <a:rPr lang="en-IN" dirty="0" err="1"/>
                        <a:t>Joblib</a:t>
                      </a:r>
                      <a:r>
                        <a:rPr lang="en-IN" dirty="0"/>
                        <a:t>, </a:t>
                      </a:r>
                      <a:r>
                        <a:rPr lang="en-IN" dirty="0" err="1"/>
                        <a:t>Scipy</a:t>
                      </a:r>
                      <a:r>
                        <a:rPr lang="en-IN" dirty="0"/>
                        <a:t>, Imbalanced-learn</a:t>
                      </a:r>
                      <a:endParaRPr lang="en-IN" sz="1400" dirty="0"/>
                    </a:p>
                  </a:txBody>
                  <a:tcPr/>
                </a:tc>
                <a:extLst>
                  <a:ext uri="{0D108BD9-81ED-4DB2-BD59-A6C34878D82A}">
                    <a16:rowId xmlns:a16="http://schemas.microsoft.com/office/drawing/2014/main" val="1776006713"/>
                  </a:ext>
                </a:extLst>
              </a:tr>
            </a:tbl>
          </a:graphicData>
        </a:graphic>
      </p:graphicFrame>
      <p:cxnSp>
        <p:nvCxnSpPr>
          <p:cNvPr id="8" name="Straight Connector 7">
            <a:extLst>
              <a:ext uri="{FF2B5EF4-FFF2-40B4-BE49-F238E27FC236}">
                <a16:creationId xmlns:a16="http://schemas.microsoft.com/office/drawing/2014/main" id="{3F09B7C6-049F-061F-1D2B-BDDB22846A4C}"/>
              </a:ext>
            </a:extLst>
          </p:cNvPr>
          <p:cNvCxnSpPr>
            <a:cxnSpLocks/>
          </p:cNvCxnSpPr>
          <p:nvPr/>
        </p:nvCxnSpPr>
        <p:spPr>
          <a:xfrm>
            <a:off x="683751" y="1634490"/>
            <a:ext cx="6096000" cy="762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4C0FCCF-97C6-A249-3220-8A5F35BC6F40}"/>
              </a:ext>
            </a:extLst>
          </p:cNvPr>
          <p:cNvCxnSpPr>
            <a:cxnSpLocks/>
          </p:cNvCxnSpPr>
          <p:nvPr/>
        </p:nvCxnSpPr>
        <p:spPr>
          <a:xfrm>
            <a:off x="683751" y="2684318"/>
            <a:ext cx="6096000" cy="762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8505480-15DC-EB54-D771-7ACEA2655383}"/>
              </a:ext>
            </a:extLst>
          </p:cNvPr>
          <p:cNvCxnSpPr>
            <a:cxnSpLocks/>
          </p:cNvCxnSpPr>
          <p:nvPr/>
        </p:nvCxnSpPr>
        <p:spPr>
          <a:xfrm>
            <a:off x="683751" y="2165119"/>
            <a:ext cx="6096000" cy="762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8C37C65-1A26-8B2F-D2F1-E6B21CBA1BA3}"/>
              </a:ext>
            </a:extLst>
          </p:cNvPr>
          <p:cNvCxnSpPr>
            <a:cxnSpLocks/>
          </p:cNvCxnSpPr>
          <p:nvPr/>
        </p:nvCxnSpPr>
        <p:spPr>
          <a:xfrm>
            <a:off x="683751" y="3211137"/>
            <a:ext cx="6096000" cy="762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01AC709-D138-A5DE-E995-FC5019C41EF4}"/>
              </a:ext>
            </a:extLst>
          </p:cNvPr>
          <p:cNvCxnSpPr>
            <a:cxnSpLocks/>
          </p:cNvCxnSpPr>
          <p:nvPr/>
        </p:nvCxnSpPr>
        <p:spPr>
          <a:xfrm>
            <a:off x="683751" y="3796145"/>
            <a:ext cx="6096000" cy="762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4161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6F327-3A4C-39AC-9723-6E2D356C739D}"/>
              </a:ext>
            </a:extLst>
          </p:cNvPr>
          <p:cNvSpPr>
            <a:spLocks noGrp="1"/>
          </p:cNvSpPr>
          <p:nvPr>
            <p:ph type="title"/>
          </p:nvPr>
        </p:nvSpPr>
        <p:spPr>
          <a:xfrm>
            <a:off x="311700" y="0"/>
            <a:ext cx="8520600" cy="1017800"/>
          </a:xfrm>
        </p:spPr>
        <p:txBody>
          <a:bodyPr>
            <a:normAutofit fontScale="90000"/>
          </a:bodyPr>
          <a:lstStyle/>
          <a:p>
            <a:r>
              <a:rPr lang="en-US" sz="3200" b="1" u="sng" dirty="0">
                <a:solidFill>
                  <a:schemeClr val="accent1"/>
                </a:solidFill>
                <a:latin typeface="Times New Roman" panose="02020603050405020304" pitchFamily="18" charset="0"/>
                <a:cs typeface="Times New Roman" panose="02020603050405020304" pitchFamily="18" charset="0"/>
              </a:rPr>
              <a:t>IMPLEMENTATION DETAILS</a:t>
            </a:r>
            <a:br>
              <a:rPr lang="en-US" sz="3200" b="1" dirty="0">
                <a:solidFill>
                  <a:schemeClr val="accent1"/>
                </a:solidFill>
                <a:latin typeface="Times New Roman" panose="02020603050405020304" pitchFamily="18" charset="0"/>
                <a:cs typeface="Times New Roman" panose="02020603050405020304" pitchFamily="18" charset="0"/>
              </a:rPr>
            </a:br>
            <a:endParaRPr lang="en-US" dirty="0"/>
          </a:p>
        </p:txBody>
      </p:sp>
      <p:graphicFrame>
        <p:nvGraphicFramePr>
          <p:cNvPr id="4" name="Table 3">
            <a:extLst>
              <a:ext uri="{FF2B5EF4-FFF2-40B4-BE49-F238E27FC236}">
                <a16:creationId xmlns:a16="http://schemas.microsoft.com/office/drawing/2014/main" id="{77A73FC7-82F4-4EEE-2531-A90BD692E2AD}"/>
              </a:ext>
            </a:extLst>
          </p:cNvPr>
          <p:cNvGraphicFramePr>
            <a:graphicFrameLocks noGrp="1"/>
          </p:cNvGraphicFramePr>
          <p:nvPr>
            <p:extLst>
              <p:ext uri="{D42A27DB-BD31-4B8C-83A1-F6EECF244321}">
                <p14:modId xmlns:p14="http://schemas.microsoft.com/office/powerpoint/2010/main" val="162509310"/>
              </p:ext>
            </p:extLst>
          </p:nvPr>
        </p:nvGraphicFramePr>
        <p:xfrm>
          <a:off x="177800" y="726722"/>
          <a:ext cx="8654500" cy="4124003"/>
        </p:xfrm>
        <a:graphic>
          <a:graphicData uri="http://schemas.openxmlformats.org/drawingml/2006/table">
            <a:tbl>
              <a:tblPr firstRow="1" bandRow="1">
                <a:tableStyleId>{5C22544A-7EE6-4342-B048-85BDC9FD1C3A}</a:tableStyleId>
              </a:tblPr>
              <a:tblGrid>
                <a:gridCol w="1730900">
                  <a:extLst>
                    <a:ext uri="{9D8B030D-6E8A-4147-A177-3AD203B41FA5}">
                      <a16:colId xmlns:a16="http://schemas.microsoft.com/office/drawing/2014/main" val="2728370591"/>
                    </a:ext>
                  </a:extLst>
                </a:gridCol>
                <a:gridCol w="1730900">
                  <a:extLst>
                    <a:ext uri="{9D8B030D-6E8A-4147-A177-3AD203B41FA5}">
                      <a16:colId xmlns:a16="http://schemas.microsoft.com/office/drawing/2014/main" val="831781287"/>
                    </a:ext>
                  </a:extLst>
                </a:gridCol>
                <a:gridCol w="1730900">
                  <a:extLst>
                    <a:ext uri="{9D8B030D-6E8A-4147-A177-3AD203B41FA5}">
                      <a16:colId xmlns:a16="http://schemas.microsoft.com/office/drawing/2014/main" val="882771323"/>
                    </a:ext>
                  </a:extLst>
                </a:gridCol>
                <a:gridCol w="1730900">
                  <a:extLst>
                    <a:ext uri="{9D8B030D-6E8A-4147-A177-3AD203B41FA5}">
                      <a16:colId xmlns:a16="http://schemas.microsoft.com/office/drawing/2014/main" val="3163086901"/>
                    </a:ext>
                  </a:extLst>
                </a:gridCol>
                <a:gridCol w="1730900">
                  <a:extLst>
                    <a:ext uri="{9D8B030D-6E8A-4147-A177-3AD203B41FA5}">
                      <a16:colId xmlns:a16="http://schemas.microsoft.com/office/drawing/2014/main" val="275830009"/>
                    </a:ext>
                  </a:extLst>
                </a:gridCol>
              </a:tblGrid>
              <a:tr h="609493">
                <a:tc>
                  <a:txBody>
                    <a:bodyPr/>
                    <a:lstStyle/>
                    <a:p>
                      <a:pPr algn="ctr"/>
                      <a:endParaRPr lang="en-IN" dirty="0"/>
                    </a:p>
                    <a:p>
                      <a:pPr algn="ctr"/>
                      <a:r>
                        <a:rPr lang="en-IN" dirty="0"/>
                        <a:t>Module</a:t>
                      </a:r>
                    </a:p>
                  </a:txBody>
                  <a:tcPr/>
                </a:tc>
                <a:tc>
                  <a:txBody>
                    <a:bodyPr/>
                    <a:lstStyle/>
                    <a:p>
                      <a:pPr algn="ctr"/>
                      <a:endParaRPr lang="en-IN" dirty="0"/>
                    </a:p>
                    <a:p>
                      <a:pPr algn="ctr"/>
                      <a:r>
                        <a:rPr lang="en-IN" dirty="0"/>
                        <a:t>Description</a:t>
                      </a:r>
                    </a:p>
                    <a:p>
                      <a:pPr algn="ctr"/>
                      <a:endParaRPr lang="en-IN" dirty="0"/>
                    </a:p>
                  </a:txBody>
                  <a:tcPr/>
                </a:tc>
                <a:tc>
                  <a:txBody>
                    <a:bodyPr/>
                    <a:lstStyle/>
                    <a:p>
                      <a:pPr algn="ctr"/>
                      <a:endParaRPr lang="en-IN" dirty="0"/>
                    </a:p>
                    <a:p>
                      <a:pPr algn="ctr"/>
                      <a:r>
                        <a:rPr lang="en-IN" dirty="0"/>
                        <a:t>Tools / Libraries</a:t>
                      </a:r>
                    </a:p>
                  </a:txBody>
                  <a:tcPr/>
                </a:tc>
                <a:tc>
                  <a:txBody>
                    <a:bodyPr/>
                    <a:lstStyle/>
                    <a:p>
                      <a:pPr algn="ctr"/>
                      <a:endParaRPr lang="en-IN" dirty="0"/>
                    </a:p>
                    <a:p>
                      <a:pPr algn="ctr"/>
                      <a:r>
                        <a:rPr lang="en-IN" dirty="0"/>
                        <a:t>Input</a:t>
                      </a:r>
                    </a:p>
                  </a:txBody>
                  <a:tcPr/>
                </a:tc>
                <a:tc>
                  <a:txBody>
                    <a:bodyPr/>
                    <a:lstStyle/>
                    <a:p>
                      <a:pPr algn="ctr"/>
                      <a:endParaRPr lang="en-IN" dirty="0"/>
                    </a:p>
                    <a:p>
                      <a:pPr algn="ctr"/>
                      <a:r>
                        <a:rPr lang="en-IN" dirty="0"/>
                        <a:t>Output</a:t>
                      </a:r>
                    </a:p>
                  </a:txBody>
                  <a:tcPr/>
                </a:tc>
                <a:extLst>
                  <a:ext uri="{0D108BD9-81ED-4DB2-BD59-A6C34878D82A}">
                    <a16:rowId xmlns:a16="http://schemas.microsoft.com/office/drawing/2014/main" val="2763233552"/>
                  </a:ext>
                </a:extLst>
              </a:tr>
              <a:tr h="786443">
                <a:tc>
                  <a:txBody>
                    <a:bodyPr/>
                    <a:lstStyle/>
                    <a:p>
                      <a:pPr algn="ctr"/>
                      <a:endParaRPr lang="en-IN" dirty="0"/>
                    </a:p>
                    <a:p>
                      <a:pPr algn="ctr"/>
                      <a:r>
                        <a:rPr lang="en-IN" dirty="0"/>
                        <a:t>Data Collection</a:t>
                      </a:r>
                    </a:p>
                  </a:txBody>
                  <a:tcPr/>
                </a:tc>
                <a:tc>
                  <a:txBody>
                    <a:bodyPr/>
                    <a:lstStyle/>
                    <a:p>
                      <a:pPr algn="ctr"/>
                      <a:r>
                        <a:rPr lang="en-IN" dirty="0"/>
                        <a:t>Acquire datasets (Diabetes, Heart, Parkinson’s, Cancer, Symptom)</a:t>
                      </a:r>
                    </a:p>
                  </a:txBody>
                  <a:tcPr/>
                </a:tc>
                <a:tc>
                  <a:txBody>
                    <a:bodyPr/>
                    <a:lstStyle/>
                    <a:p>
                      <a:pPr algn="ctr"/>
                      <a:endParaRPr lang="en-IN" dirty="0"/>
                    </a:p>
                    <a:p>
                      <a:pPr algn="ctr"/>
                      <a:r>
                        <a:rPr lang="en-IN" dirty="0"/>
                        <a:t>CSV files, Kaggle datasets, pandas</a:t>
                      </a:r>
                    </a:p>
                  </a:txBody>
                  <a:tcPr/>
                </a:tc>
                <a:tc>
                  <a:txBody>
                    <a:bodyPr/>
                    <a:lstStyle/>
                    <a:p>
                      <a:pPr algn="ctr"/>
                      <a:endParaRPr lang="en-IN" dirty="0"/>
                    </a:p>
                    <a:p>
                      <a:pPr algn="ctr"/>
                      <a:r>
                        <a:rPr lang="en-IN" dirty="0"/>
                        <a:t>Raw CSVs</a:t>
                      </a:r>
                    </a:p>
                  </a:txBody>
                  <a:tcPr/>
                </a:tc>
                <a:tc>
                  <a:txBody>
                    <a:bodyPr/>
                    <a:lstStyle/>
                    <a:p>
                      <a:pPr algn="ctr"/>
                      <a:endParaRPr lang="en-IN" dirty="0"/>
                    </a:p>
                    <a:p>
                      <a:pPr algn="ctr"/>
                      <a:r>
                        <a:rPr lang="en-IN" dirty="0"/>
                        <a:t>Raw data tables</a:t>
                      </a:r>
                    </a:p>
                  </a:txBody>
                  <a:tcPr/>
                </a:tc>
                <a:extLst>
                  <a:ext uri="{0D108BD9-81ED-4DB2-BD59-A6C34878D82A}">
                    <a16:rowId xmlns:a16="http://schemas.microsoft.com/office/drawing/2014/main" val="3824778760"/>
                  </a:ext>
                </a:extLst>
              </a:tr>
              <a:tr h="786443">
                <a:tc>
                  <a:txBody>
                    <a:bodyPr/>
                    <a:lstStyle/>
                    <a:p>
                      <a:pPr algn="ctr"/>
                      <a:endParaRPr lang="en-IN" dirty="0"/>
                    </a:p>
                    <a:p>
                      <a:pPr algn="ctr"/>
                      <a:r>
                        <a:rPr lang="en-IN" dirty="0"/>
                        <a:t>Preprocessing</a:t>
                      </a:r>
                    </a:p>
                  </a:txBody>
                  <a:tcPr/>
                </a:tc>
                <a:tc>
                  <a:txBody>
                    <a:bodyPr/>
                    <a:lstStyle/>
                    <a:p>
                      <a:pPr algn="ctr"/>
                      <a:r>
                        <a:rPr lang="en-IN" dirty="0"/>
                        <a:t>Clean, impute, encode, scale features</a:t>
                      </a:r>
                    </a:p>
                  </a:txBody>
                  <a:tcPr/>
                </a:tc>
                <a:tc>
                  <a:txBody>
                    <a:bodyPr/>
                    <a:lstStyle/>
                    <a:p>
                      <a:pPr algn="ctr"/>
                      <a:r>
                        <a:rPr lang="en-IN" dirty="0"/>
                        <a:t>pandas, scikit-learn (</a:t>
                      </a:r>
                      <a:r>
                        <a:rPr lang="en-IN" dirty="0" err="1"/>
                        <a:t>StandardScaler</a:t>
                      </a:r>
                      <a:r>
                        <a:rPr lang="en-IN" dirty="0"/>
                        <a:t>, </a:t>
                      </a:r>
                      <a:r>
                        <a:rPr lang="en-IN" dirty="0" err="1"/>
                        <a:t>LabelEncoder</a:t>
                      </a:r>
                      <a:r>
                        <a:rPr lang="en-IN" dirty="0"/>
                        <a:t>)</a:t>
                      </a:r>
                    </a:p>
                  </a:txBody>
                  <a:tcPr/>
                </a:tc>
                <a:tc>
                  <a:txBody>
                    <a:bodyPr/>
                    <a:lstStyle/>
                    <a:p>
                      <a:pPr algn="ctr"/>
                      <a:endParaRPr lang="en-IN" dirty="0"/>
                    </a:p>
                    <a:p>
                      <a:pPr algn="ctr"/>
                      <a:r>
                        <a:rPr lang="en-IN" dirty="0"/>
                        <a:t>Raw tables</a:t>
                      </a:r>
                    </a:p>
                  </a:txBody>
                  <a:tcPr/>
                </a:tc>
                <a:tc>
                  <a:txBody>
                    <a:bodyPr/>
                    <a:lstStyle/>
                    <a:p>
                      <a:pPr algn="ctr"/>
                      <a:endParaRPr lang="en-IN" dirty="0"/>
                    </a:p>
                    <a:p>
                      <a:pPr algn="ctr"/>
                      <a:r>
                        <a:rPr lang="en-IN" dirty="0"/>
                        <a:t>X (scaled), y (labels)</a:t>
                      </a:r>
                    </a:p>
                  </a:txBody>
                  <a:tcPr/>
                </a:tc>
                <a:extLst>
                  <a:ext uri="{0D108BD9-81ED-4DB2-BD59-A6C34878D82A}">
                    <a16:rowId xmlns:a16="http://schemas.microsoft.com/office/drawing/2014/main" val="3238404946"/>
                  </a:ext>
                </a:extLst>
              </a:tr>
              <a:tr h="432543">
                <a:tc>
                  <a:txBody>
                    <a:bodyPr/>
                    <a:lstStyle/>
                    <a:p>
                      <a:pPr algn="ctr"/>
                      <a:r>
                        <a:rPr lang="en-IN" dirty="0"/>
                        <a:t>Feature Extraction</a:t>
                      </a:r>
                    </a:p>
                  </a:txBody>
                  <a:tcPr/>
                </a:tc>
                <a:tc>
                  <a:txBody>
                    <a:bodyPr/>
                    <a:lstStyle/>
                    <a:p>
                      <a:pPr algn="ctr"/>
                      <a:r>
                        <a:rPr lang="en-IN" dirty="0"/>
                        <a:t>Select disease-specific features</a:t>
                      </a:r>
                    </a:p>
                  </a:txBody>
                  <a:tcPr/>
                </a:tc>
                <a:tc>
                  <a:txBody>
                    <a:bodyPr/>
                    <a:lstStyle/>
                    <a:p>
                      <a:pPr algn="ctr"/>
                      <a:r>
                        <a:rPr lang="en-IN" dirty="0"/>
                        <a:t>pandas, domain rules</a:t>
                      </a:r>
                    </a:p>
                  </a:txBody>
                  <a:tcPr/>
                </a:tc>
                <a:tc>
                  <a:txBody>
                    <a:bodyPr/>
                    <a:lstStyle/>
                    <a:p>
                      <a:pPr algn="ctr"/>
                      <a:r>
                        <a:rPr lang="en-IN" dirty="0" err="1"/>
                        <a:t>Preprocessed</a:t>
                      </a:r>
                      <a:r>
                        <a:rPr lang="en-IN" dirty="0"/>
                        <a:t> X</a:t>
                      </a:r>
                    </a:p>
                  </a:txBody>
                  <a:tcPr/>
                </a:tc>
                <a:tc>
                  <a:txBody>
                    <a:bodyPr/>
                    <a:lstStyle/>
                    <a:p>
                      <a:pPr algn="ctr"/>
                      <a:r>
                        <a:rPr lang="en-IN" dirty="0"/>
                        <a:t>Feature vectors per disease</a:t>
                      </a:r>
                    </a:p>
                  </a:txBody>
                  <a:tcPr/>
                </a:tc>
                <a:extLst>
                  <a:ext uri="{0D108BD9-81ED-4DB2-BD59-A6C34878D82A}">
                    <a16:rowId xmlns:a16="http://schemas.microsoft.com/office/drawing/2014/main" val="1926946262"/>
                  </a:ext>
                </a:extLst>
              </a:tr>
              <a:tr h="609493">
                <a:tc>
                  <a:txBody>
                    <a:bodyPr/>
                    <a:lstStyle/>
                    <a:p>
                      <a:pPr algn="ctr"/>
                      <a:endParaRPr lang="en-IN" dirty="0"/>
                    </a:p>
                    <a:p>
                      <a:pPr algn="ctr"/>
                      <a:r>
                        <a:rPr lang="en-IN" dirty="0"/>
                        <a:t>Model Training</a:t>
                      </a:r>
                    </a:p>
                  </a:txBody>
                  <a:tcPr/>
                </a:tc>
                <a:tc>
                  <a:txBody>
                    <a:bodyPr/>
                    <a:lstStyle/>
                    <a:p>
                      <a:pPr algn="ctr"/>
                      <a:r>
                        <a:rPr lang="en-IN" dirty="0"/>
                        <a:t>Train classifiers, tune hyperparameters</a:t>
                      </a:r>
                    </a:p>
                  </a:txBody>
                  <a:tcPr/>
                </a:tc>
                <a:tc>
                  <a:txBody>
                    <a:bodyPr/>
                    <a:lstStyle/>
                    <a:p>
                      <a:pPr algn="ctr"/>
                      <a:r>
                        <a:rPr lang="en-IN" dirty="0"/>
                        <a:t>scikit-learn, </a:t>
                      </a:r>
                      <a:r>
                        <a:rPr lang="en-IN" dirty="0" err="1"/>
                        <a:t>xgboost</a:t>
                      </a:r>
                      <a:r>
                        <a:rPr lang="en-IN" dirty="0"/>
                        <a:t>, </a:t>
                      </a:r>
                      <a:r>
                        <a:rPr lang="en-IN" dirty="0" err="1"/>
                        <a:t>GridSearchCV</a:t>
                      </a:r>
                      <a:endParaRPr lang="en-IN" dirty="0"/>
                    </a:p>
                  </a:txBody>
                  <a:tcPr/>
                </a:tc>
                <a:tc>
                  <a:txBody>
                    <a:bodyPr/>
                    <a:lstStyle/>
                    <a:p>
                      <a:pPr algn="ctr"/>
                      <a:r>
                        <a:rPr lang="en-IN" dirty="0" err="1"/>
                        <a:t>X_train</a:t>
                      </a:r>
                      <a:r>
                        <a:rPr lang="en-IN" dirty="0"/>
                        <a:t>, </a:t>
                      </a:r>
                      <a:r>
                        <a:rPr lang="en-IN" dirty="0" err="1"/>
                        <a:t>y_train</a:t>
                      </a:r>
                      <a:endParaRPr lang="en-IN" dirty="0"/>
                    </a:p>
                  </a:txBody>
                  <a:tcPr/>
                </a:tc>
                <a:tc>
                  <a:txBody>
                    <a:bodyPr/>
                    <a:lstStyle/>
                    <a:p>
                      <a:pPr algn="ctr"/>
                      <a:r>
                        <a:rPr lang="en-US" dirty="0"/>
                        <a:t>Trained model objects (.sav/.</a:t>
                      </a:r>
                      <a:r>
                        <a:rPr lang="en-US" dirty="0" err="1"/>
                        <a:t>pkl</a:t>
                      </a:r>
                      <a:r>
                        <a:rPr lang="en-US" dirty="0"/>
                        <a:t>)</a:t>
                      </a:r>
                      <a:endParaRPr lang="en-IN" dirty="0"/>
                    </a:p>
                  </a:txBody>
                  <a:tcPr/>
                </a:tc>
                <a:extLst>
                  <a:ext uri="{0D108BD9-81ED-4DB2-BD59-A6C34878D82A}">
                    <a16:rowId xmlns:a16="http://schemas.microsoft.com/office/drawing/2014/main" val="650606292"/>
                  </a:ext>
                </a:extLst>
              </a:tr>
              <a:tr h="432543">
                <a:tc>
                  <a:txBody>
                    <a:bodyPr/>
                    <a:lstStyle/>
                    <a:p>
                      <a:pPr algn="ctr"/>
                      <a:r>
                        <a:rPr lang="en-IN" dirty="0"/>
                        <a:t>Model Persistence</a:t>
                      </a:r>
                    </a:p>
                  </a:txBody>
                  <a:tcPr/>
                </a:tc>
                <a:tc>
                  <a:txBody>
                    <a:bodyPr/>
                    <a:lstStyle/>
                    <a:p>
                      <a:pPr algn="ctr"/>
                      <a:r>
                        <a:rPr lang="en-IN" dirty="0"/>
                        <a:t>Save models &amp; scalers for reuse</a:t>
                      </a:r>
                    </a:p>
                  </a:txBody>
                  <a:tcPr/>
                </a:tc>
                <a:tc>
                  <a:txBody>
                    <a:bodyPr/>
                    <a:lstStyle/>
                    <a:p>
                      <a:pPr algn="ctr"/>
                      <a:r>
                        <a:rPr lang="en-IN" dirty="0"/>
                        <a:t>pickle / </a:t>
                      </a:r>
                      <a:r>
                        <a:rPr lang="en-IN" dirty="0" err="1"/>
                        <a:t>joblib</a:t>
                      </a:r>
                      <a:endParaRPr lang="en-IN" dirty="0"/>
                    </a:p>
                  </a:txBody>
                  <a:tcPr/>
                </a:tc>
                <a:tc>
                  <a:txBody>
                    <a:bodyPr/>
                    <a:lstStyle/>
                    <a:p>
                      <a:pPr algn="ctr"/>
                      <a:r>
                        <a:rPr lang="en-IN" dirty="0"/>
                        <a:t>Trained models, scalers</a:t>
                      </a:r>
                    </a:p>
                  </a:txBody>
                  <a:tcPr/>
                </a:tc>
                <a:tc>
                  <a:txBody>
                    <a:bodyPr/>
                    <a:lstStyle/>
                    <a:p>
                      <a:pPr algn="ctr"/>
                      <a:r>
                        <a:rPr lang="en-IN" dirty="0"/>
                        <a:t>.sav / .</a:t>
                      </a:r>
                      <a:r>
                        <a:rPr lang="en-IN" dirty="0" err="1"/>
                        <a:t>pkl</a:t>
                      </a:r>
                      <a:r>
                        <a:rPr lang="en-IN" dirty="0"/>
                        <a:t> files</a:t>
                      </a:r>
                    </a:p>
                  </a:txBody>
                  <a:tcPr/>
                </a:tc>
                <a:extLst>
                  <a:ext uri="{0D108BD9-81ED-4DB2-BD59-A6C34878D82A}">
                    <a16:rowId xmlns:a16="http://schemas.microsoft.com/office/drawing/2014/main" val="1516601652"/>
                  </a:ext>
                </a:extLst>
              </a:tr>
            </a:tbl>
          </a:graphicData>
        </a:graphic>
      </p:graphicFrame>
    </p:spTree>
    <p:extLst>
      <p:ext uri="{BB962C8B-B14F-4D97-AF65-F5344CB8AC3E}">
        <p14:creationId xmlns:p14="http://schemas.microsoft.com/office/powerpoint/2010/main" val="4120821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CB22CD6C-64CB-073B-D6A1-C3AEDB3F46FC}"/>
              </a:ext>
            </a:extLst>
          </p:cNvPr>
          <p:cNvGraphicFramePr>
            <a:graphicFrameLocks noGrp="1"/>
          </p:cNvGraphicFramePr>
          <p:nvPr>
            <p:extLst>
              <p:ext uri="{D42A27DB-BD31-4B8C-83A1-F6EECF244321}">
                <p14:modId xmlns:p14="http://schemas.microsoft.com/office/powerpoint/2010/main" val="3882738442"/>
              </p:ext>
            </p:extLst>
          </p:nvPr>
        </p:nvGraphicFramePr>
        <p:xfrm>
          <a:off x="245532" y="266167"/>
          <a:ext cx="8586770" cy="4399542"/>
        </p:xfrm>
        <a:graphic>
          <a:graphicData uri="http://schemas.openxmlformats.org/drawingml/2006/table">
            <a:tbl>
              <a:tblPr bandRow="1">
                <a:tableStyleId>{5C22544A-7EE6-4342-B048-85BDC9FD1C3A}</a:tableStyleId>
              </a:tblPr>
              <a:tblGrid>
                <a:gridCol w="1717354">
                  <a:extLst>
                    <a:ext uri="{9D8B030D-6E8A-4147-A177-3AD203B41FA5}">
                      <a16:colId xmlns:a16="http://schemas.microsoft.com/office/drawing/2014/main" val="2093862224"/>
                    </a:ext>
                  </a:extLst>
                </a:gridCol>
                <a:gridCol w="1717354">
                  <a:extLst>
                    <a:ext uri="{9D8B030D-6E8A-4147-A177-3AD203B41FA5}">
                      <a16:colId xmlns:a16="http://schemas.microsoft.com/office/drawing/2014/main" val="1517215070"/>
                    </a:ext>
                  </a:extLst>
                </a:gridCol>
                <a:gridCol w="1717354">
                  <a:extLst>
                    <a:ext uri="{9D8B030D-6E8A-4147-A177-3AD203B41FA5}">
                      <a16:colId xmlns:a16="http://schemas.microsoft.com/office/drawing/2014/main" val="2158651247"/>
                    </a:ext>
                  </a:extLst>
                </a:gridCol>
                <a:gridCol w="1717354">
                  <a:extLst>
                    <a:ext uri="{9D8B030D-6E8A-4147-A177-3AD203B41FA5}">
                      <a16:colId xmlns:a16="http://schemas.microsoft.com/office/drawing/2014/main" val="1707851104"/>
                    </a:ext>
                  </a:extLst>
                </a:gridCol>
                <a:gridCol w="1717354">
                  <a:extLst>
                    <a:ext uri="{9D8B030D-6E8A-4147-A177-3AD203B41FA5}">
                      <a16:colId xmlns:a16="http://schemas.microsoft.com/office/drawing/2014/main" val="1565065591"/>
                    </a:ext>
                  </a:extLst>
                </a:gridCol>
              </a:tblGrid>
              <a:tr h="733257">
                <a:tc>
                  <a:txBody>
                    <a:bodyPr/>
                    <a:lstStyle/>
                    <a:p>
                      <a:pPr algn="ctr"/>
                      <a:endParaRPr lang="en-IN" dirty="0"/>
                    </a:p>
                    <a:p>
                      <a:pPr algn="ctr"/>
                      <a:r>
                        <a:rPr lang="en-IN" dirty="0"/>
                        <a:t>Prediction Engine</a:t>
                      </a:r>
                    </a:p>
                  </a:txBody>
                  <a:tcPr/>
                </a:tc>
                <a:tc>
                  <a:txBody>
                    <a:bodyPr/>
                    <a:lstStyle/>
                    <a:p>
                      <a:pPr algn="ctr"/>
                      <a:r>
                        <a:rPr lang="en-US" dirty="0"/>
                        <a:t>Load model, preprocess user input, predict</a:t>
                      </a:r>
                      <a:endParaRPr lang="en-IN" dirty="0"/>
                    </a:p>
                  </a:txBody>
                  <a:tcPr/>
                </a:tc>
                <a:tc>
                  <a:txBody>
                    <a:bodyPr/>
                    <a:lstStyle/>
                    <a:p>
                      <a:pPr algn="ctr"/>
                      <a:r>
                        <a:rPr lang="en-IN" dirty="0"/>
                        <a:t>Python, Flask/</a:t>
                      </a:r>
                      <a:r>
                        <a:rPr lang="en-IN" dirty="0" err="1"/>
                        <a:t>Streamlit</a:t>
                      </a:r>
                      <a:endParaRPr lang="en-IN" dirty="0"/>
                    </a:p>
                  </a:txBody>
                  <a:tcPr/>
                </a:tc>
                <a:tc>
                  <a:txBody>
                    <a:bodyPr/>
                    <a:lstStyle/>
                    <a:p>
                      <a:pPr algn="ctr"/>
                      <a:endParaRPr lang="en-IN" dirty="0"/>
                    </a:p>
                    <a:p>
                      <a:pPr algn="ctr"/>
                      <a:r>
                        <a:rPr lang="en-IN" dirty="0"/>
                        <a:t>User inputs</a:t>
                      </a:r>
                    </a:p>
                  </a:txBody>
                  <a:tcPr/>
                </a:tc>
                <a:tc>
                  <a:txBody>
                    <a:bodyPr/>
                    <a:lstStyle/>
                    <a:p>
                      <a:pPr algn="ctr"/>
                      <a:r>
                        <a:rPr lang="en-IN" dirty="0"/>
                        <a:t>Prediction + probability</a:t>
                      </a:r>
                    </a:p>
                  </a:txBody>
                  <a:tcPr/>
                </a:tc>
                <a:extLst>
                  <a:ext uri="{0D108BD9-81ED-4DB2-BD59-A6C34878D82A}">
                    <a16:rowId xmlns:a16="http://schemas.microsoft.com/office/drawing/2014/main" val="2161935315"/>
                  </a:ext>
                </a:extLst>
              </a:tr>
              <a:tr h="733257">
                <a:tc>
                  <a:txBody>
                    <a:bodyPr/>
                    <a:lstStyle/>
                    <a:p>
                      <a:pPr algn="ctr"/>
                      <a:r>
                        <a:rPr lang="en-IN" dirty="0"/>
                        <a:t>Recommendation Module</a:t>
                      </a:r>
                    </a:p>
                  </a:txBody>
                  <a:tcPr/>
                </a:tc>
                <a:tc>
                  <a:txBody>
                    <a:bodyPr/>
                    <a:lstStyle/>
                    <a:p>
                      <a:pPr algn="ctr"/>
                      <a:r>
                        <a:rPr lang="en-US" dirty="0"/>
                        <a:t>Map predicted disease → precautions &amp; tips</a:t>
                      </a:r>
                      <a:endParaRPr lang="en-IN" dirty="0"/>
                    </a:p>
                  </a:txBody>
                  <a:tcPr/>
                </a:tc>
                <a:tc>
                  <a:txBody>
                    <a:bodyPr/>
                    <a:lstStyle/>
                    <a:p>
                      <a:pPr algn="ctr"/>
                      <a:r>
                        <a:rPr lang="en-IN" dirty="0"/>
                        <a:t>Custom mapping (JSON/</a:t>
                      </a:r>
                      <a:r>
                        <a:rPr lang="en-IN" dirty="0" err="1"/>
                        <a:t>dict</a:t>
                      </a:r>
                      <a:r>
                        <a:rPr lang="en-IN" dirty="0"/>
                        <a:t>)</a:t>
                      </a:r>
                    </a:p>
                  </a:txBody>
                  <a:tcPr/>
                </a:tc>
                <a:tc>
                  <a:txBody>
                    <a:bodyPr/>
                    <a:lstStyle/>
                    <a:p>
                      <a:endParaRPr lang="en-IN" dirty="0"/>
                    </a:p>
                    <a:p>
                      <a:pPr algn="ctr"/>
                      <a:r>
                        <a:rPr lang="en-IN" dirty="0"/>
                        <a:t>Prediction label</a:t>
                      </a:r>
                    </a:p>
                  </a:txBody>
                  <a:tcPr/>
                </a:tc>
                <a:tc>
                  <a:txBody>
                    <a:bodyPr/>
                    <a:lstStyle/>
                    <a:p>
                      <a:pPr algn="ctr"/>
                      <a:r>
                        <a:rPr lang="en-IN" dirty="0"/>
                        <a:t>Recommendation text</a:t>
                      </a:r>
                    </a:p>
                  </a:txBody>
                  <a:tcPr/>
                </a:tc>
                <a:extLst>
                  <a:ext uri="{0D108BD9-81ED-4DB2-BD59-A6C34878D82A}">
                    <a16:rowId xmlns:a16="http://schemas.microsoft.com/office/drawing/2014/main" val="3046032247"/>
                  </a:ext>
                </a:extLst>
              </a:tr>
              <a:tr h="733257">
                <a:tc>
                  <a:txBody>
                    <a:bodyPr/>
                    <a:lstStyle/>
                    <a:p>
                      <a:pPr algn="ctr"/>
                      <a:endParaRPr lang="en-IN" dirty="0"/>
                    </a:p>
                    <a:p>
                      <a:pPr algn="ctr"/>
                      <a:r>
                        <a:rPr lang="en-IN" dirty="0"/>
                        <a:t>Evaluation &amp; Testing</a:t>
                      </a:r>
                    </a:p>
                  </a:txBody>
                  <a:tcPr/>
                </a:tc>
                <a:tc>
                  <a:txBody>
                    <a:bodyPr/>
                    <a:lstStyle/>
                    <a:p>
                      <a:pPr algn="ctr"/>
                      <a:r>
                        <a:rPr lang="fr-FR" dirty="0" err="1"/>
                        <a:t>Compute</a:t>
                      </a:r>
                      <a:r>
                        <a:rPr lang="fr-FR" dirty="0"/>
                        <a:t> </a:t>
                      </a:r>
                      <a:r>
                        <a:rPr lang="fr-FR" dirty="0" err="1"/>
                        <a:t>metrics</a:t>
                      </a:r>
                      <a:r>
                        <a:rPr lang="fr-FR" dirty="0"/>
                        <a:t>, confusion matrix, cross-val</a:t>
                      </a:r>
                      <a:endParaRPr lang="en-IN" dirty="0"/>
                    </a:p>
                  </a:txBody>
                  <a:tcPr/>
                </a:tc>
                <a:tc>
                  <a:txBody>
                    <a:bodyPr/>
                    <a:lstStyle/>
                    <a:p>
                      <a:pPr algn="ctr"/>
                      <a:endParaRPr lang="en-IN" dirty="0"/>
                    </a:p>
                    <a:p>
                      <a:pPr algn="ctr"/>
                      <a:r>
                        <a:rPr lang="en-IN" dirty="0"/>
                        <a:t>scikit-learn metrics</a:t>
                      </a:r>
                    </a:p>
                  </a:txBody>
                  <a:tcPr/>
                </a:tc>
                <a:tc>
                  <a:txBody>
                    <a:bodyPr/>
                    <a:lstStyle/>
                    <a:p>
                      <a:pPr algn="ctr"/>
                      <a:endParaRPr lang="en-IN" dirty="0"/>
                    </a:p>
                    <a:p>
                      <a:pPr algn="ctr"/>
                      <a:r>
                        <a:rPr lang="en-IN" dirty="0" err="1"/>
                        <a:t>y_test</a:t>
                      </a:r>
                      <a:r>
                        <a:rPr lang="en-IN" dirty="0"/>
                        <a:t>, </a:t>
                      </a:r>
                      <a:r>
                        <a:rPr lang="en-IN" dirty="0" err="1"/>
                        <a:t>y_pred</a:t>
                      </a:r>
                      <a:endParaRPr lang="en-IN" dirty="0"/>
                    </a:p>
                  </a:txBody>
                  <a:tcPr/>
                </a:tc>
                <a:tc>
                  <a:txBody>
                    <a:bodyPr/>
                    <a:lstStyle/>
                    <a:p>
                      <a:pPr algn="ctr"/>
                      <a:r>
                        <a:rPr lang="en-US" dirty="0"/>
                        <a:t>Accuracy, Precision, Recall, F1, Confusion Matrix</a:t>
                      </a:r>
                      <a:endParaRPr lang="en-IN" dirty="0"/>
                    </a:p>
                  </a:txBody>
                  <a:tcPr/>
                </a:tc>
                <a:extLst>
                  <a:ext uri="{0D108BD9-81ED-4DB2-BD59-A6C34878D82A}">
                    <a16:rowId xmlns:a16="http://schemas.microsoft.com/office/drawing/2014/main" val="2629028468"/>
                  </a:ext>
                </a:extLst>
              </a:tr>
              <a:tr h="733257">
                <a:tc>
                  <a:txBody>
                    <a:bodyPr/>
                    <a:lstStyle/>
                    <a:p>
                      <a:pPr algn="ctr"/>
                      <a:r>
                        <a:rPr lang="en-IN" dirty="0"/>
                        <a:t>Deployment (demo)</a:t>
                      </a:r>
                    </a:p>
                  </a:txBody>
                  <a:tcPr/>
                </a:tc>
                <a:tc>
                  <a:txBody>
                    <a:bodyPr/>
                    <a:lstStyle/>
                    <a:p>
                      <a:pPr algn="ctr"/>
                      <a:r>
                        <a:rPr lang="en-US" dirty="0"/>
                        <a:t>Local app or simple server for demo</a:t>
                      </a:r>
                      <a:endParaRPr lang="en-IN" dirty="0"/>
                    </a:p>
                  </a:txBody>
                  <a:tcPr/>
                </a:tc>
                <a:tc>
                  <a:txBody>
                    <a:bodyPr/>
                    <a:lstStyle/>
                    <a:p>
                      <a:pPr algn="ctr"/>
                      <a:endParaRPr lang="en-IN" dirty="0"/>
                    </a:p>
                    <a:p>
                      <a:pPr algn="ctr"/>
                      <a:r>
                        <a:rPr lang="en-IN" dirty="0" err="1"/>
                        <a:t>Streamlit</a:t>
                      </a:r>
                      <a:r>
                        <a:rPr lang="en-IN" dirty="0"/>
                        <a:t> / Flask</a:t>
                      </a:r>
                    </a:p>
                  </a:txBody>
                  <a:tcPr/>
                </a:tc>
                <a:tc>
                  <a:txBody>
                    <a:bodyPr/>
                    <a:lstStyle/>
                    <a:p>
                      <a:pPr algn="ctr"/>
                      <a:endParaRPr lang="en-IN" dirty="0"/>
                    </a:p>
                    <a:p>
                      <a:pPr algn="ctr"/>
                      <a:r>
                        <a:rPr lang="en-IN" dirty="0"/>
                        <a:t>Models + app code</a:t>
                      </a:r>
                    </a:p>
                  </a:txBody>
                  <a:tcPr/>
                </a:tc>
                <a:tc>
                  <a:txBody>
                    <a:bodyPr/>
                    <a:lstStyle/>
                    <a:p>
                      <a:pPr algn="ctr"/>
                      <a:r>
                        <a:rPr lang="en-IN" dirty="0"/>
                        <a:t>Runnable application (no APK)</a:t>
                      </a:r>
                    </a:p>
                  </a:txBody>
                  <a:tcPr/>
                </a:tc>
                <a:extLst>
                  <a:ext uri="{0D108BD9-81ED-4DB2-BD59-A6C34878D82A}">
                    <a16:rowId xmlns:a16="http://schemas.microsoft.com/office/drawing/2014/main" val="340291559"/>
                  </a:ext>
                </a:extLst>
              </a:tr>
              <a:tr h="733257">
                <a:tc>
                  <a:txBody>
                    <a:bodyPr/>
                    <a:lstStyle/>
                    <a:p>
                      <a:pPr algn="ctr"/>
                      <a:r>
                        <a:rPr lang="en-IN" dirty="0"/>
                        <a:t>Documentation</a:t>
                      </a:r>
                    </a:p>
                  </a:txBody>
                  <a:tcPr/>
                </a:tc>
                <a:tc>
                  <a:txBody>
                    <a:bodyPr/>
                    <a:lstStyle/>
                    <a:p>
                      <a:pPr algn="ctr"/>
                      <a:r>
                        <a:rPr lang="en-US" dirty="0"/>
                        <a:t>User manual, developer notes, how-to-run</a:t>
                      </a:r>
                      <a:endParaRPr lang="en-IN" dirty="0"/>
                    </a:p>
                  </a:txBody>
                  <a:tcPr/>
                </a:tc>
                <a:tc>
                  <a:txBody>
                    <a:bodyPr/>
                    <a:lstStyle/>
                    <a:p>
                      <a:pPr algn="ctr"/>
                      <a:r>
                        <a:rPr lang="en-IN" dirty="0"/>
                        <a:t>Markdown, README</a:t>
                      </a:r>
                    </a:p>
                  </a:txBody>
                  <a:tcPr/>
                </a:tc>
                <a:tc>
                  <a:txBody>
                    <a:bodyPr/>
                    <a:lstStyle/>
                    <a:p>
                      <a:pPr algn="ctr"/>
                      <a:endParaRPr lang="en-IN" dirty="0"/>
                    </a:p>
                    <a:p>
                      <a:pPr algn="ctr"/>
                      <a:r>
                        <a:rPr lang="en-IN" dirty="0"/>
                        <a:t>Codebase</a:t>
                      </a:r>
                    </a:p>
                  </a:txBody>
                  <a:tcPr/>
                </a:tc>
                <a:tc>
                  <a:txBody>
                    <a:bodyPr/>
                    <a:lstStyle/>
                    <a:p>
                      <a:pPr algn="ctr"/>
                      <a:r>
                        <a:rPr lang="en-IN" dirty="0"/>
                        <a:t>Documentation files</a:t>
                      </a:r>
                    </a:p>
                  </a:txBody>
                  <a:tcPr/>
                </a:tc>
                <a:extLst>
                  <a:ext uri="{0D108BD9-81ED-4DB2-BD59-A6C34878D82A}">
                    <a16:rowId xmlns:a16="http://schemas.microsoft.com/office/drawing/2014/main" val="2260852184"/>
                  </a:ext>
                </a:extLst>
              </a:tr>
              <a:tr h="733257">
                <a:tc>
                  <a:txBody>
                    <a:bodyPr/>
                    <a:lstStyle/>
                    <a:p>
                      <a:endParaRPr lang="en-IN" dirty="0"/>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868649184"/>
                  </a:ext>
                </a:extLst>
              </a:tr>
            </a:tbl>
          </a:graphicData>
        </a:graphic>
      </p:graphicFrame>
    </p:spTree>
    <p:extLst>
      <p:ext uri="{BB962C8B-B14F-4D97-AF65-F5344CB8AC3E}">
        <p14:creationId xmlns:p14="http://schemas.microsoft.com/office/powerpoint/2010/main" val="2012240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87D14-8E18-C5E5-6C5D-4846AA33FA03}"/>
              </a:ext>
            </a:extLst>
          </p:cNvPr>
          <p:cNvSpPr>
            <a:spLocks noGrp="1"/>
          </p:cNvSpPr>
          <p:nvPr>
            <p:ph type="title"/>
          </p:nvPr>
        </p:nvSpPr>
        <p:spPr>
          <a:xfrm>
            <a:off x="311700" y="0"/>
            <a:ext cx="8520600" cy="607800"/>
          </a:xfrm>
        </p:spPr>
        <p:txBody>
          <a:bodyPr/>
          <a:lstStyle/>
          <a:p>
            <a:pPr algn="ctr"/>
            <a:r>
              <a:rPr lang="en-IN"/>
              <a:t>PSEUDOCODE of PREDICTION AND DIAGNOSIS MODULE</a:t>
            </a:r>
            <a:endParaRPr lang="en-IN" dirty="0"/>
          </a:p>
        </p:txBody>
      </p:sp>
      <p:sp>
        <p:nvSpPr>
          <p:cNvPr id="3" name="Text Placeholder 2">
            <a:extLst>
              <a:ext uri="{FF2B5EF4-FFF2-40B4-BE49-F238E27FC236}">
                <a16:creationId xmlns:a16="http://schemas.microsoft.com/office/drawing/2014/main" id="{4B19A188-888C-E9D6-7804-57E8B9C85AA5}"/>
              </a:ext>
            </a:extLst>
          </p:cNvPr>
          <p:cNvSpPr>
            <a:spLocks noGrp="1"/>
          </p:cNvSpPr>
          <p:nvPr>
            <p:ph type="body" idx="1"/>
          </p:nvPr>
        </p:nvSpPr>
        <p:spPr>
          <a:xfrm>
            <a:off x="311700" y="551663"/>
            <a:ext cx="8520600" cy="4473758"/>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START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INITIALIZE diseases = ["Diabetes", "Heart Disease", "Parkinson's", "Breast Cancer"]</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FOR each disease:   </a:t>
            </a:r>
          </a:p>
          <a:p>
            <a:r>
              <a:rPr lang="en-US" dirty="0">
                <a:latin typeface="Times New Roman" panose="02020603050405020304" pitchFamily="18" charset="0"/>
                <a:cs typeface="Times New Roman" panose="02020603050405020304" pitchFamily="18" charset="0"/>
              </a:rPr>
              <a:t>   LOAD its required input features </a:t>
            </a:r>
          </a:p>
          <a:p>
            <a:r>
              <a:rPr lang="en-US" dirty="0">
                <a:latin typeface="Times New Roman" panose="02020603050405020304" pitchFamily="18" charset="0"/>
                <a:cs typeface="Times New Roman" panose="02020603050405020304" pitchFamily="18" charset="0"/>
              </a:rPr>
              <a:t>   LOAD valid ranges for each feature   </a:t>
            </a:r>
          </a:p>
          <a:p>
            <a:r>
              <a:rPr lang="en-US" dirty="0">
                <a:latin typeface="Times New Roman" panose="02020603050405020304" pitchFamily="18" charset="0"/>
                <a:cs typeface="Times New Roman" panose="02020603050405020304" pitchFamily="18" charset="0"/>
              </a:rPr>
              <a:t>   LOAD trained ML model for that disease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FUNCTION </a:t>
            </a:r>
            <a:r>
              <a:rPr lang="en-US" dirty="0" err="1">
                <a:latin typeface="Times New Roman" panose="02020603050405020304" pitchFamily="18" charset="0"/>
                <a:cs typeface="Times New Roman" panose="02020603050405020304" pitchFamily="18" charset="0"/>
              </a:rPr>
              <a:t>getUserInput</a:t>
            </a:r>
            <a:r>
              <a:rPr lang="en-US" dirty="0">
                <a:latin typeface="Times New Roman" panose="02020603050405020304" pitchFamily="18" charset="0"/>
                <a:cs typeface="Times New Roman" panose="02020603050405020304" pitchFamily="18" charset="0"/>
              </a:rPr>
              <a:t>(disease):    </a:t>
            </a:r>
          </a:p>
          <a:p>
            <a:r>
              <a:rPr lang="en-US" dirty="0">
                <a:latin typeface="Times New Roman" panose="02020603050405020304" pitchFamily="18" charset="0"/>
                <a:cs typeface="Times New Roman" panose="02020603050405020304" pitchFamily="18" charset="0"/>
              </a:rPr>
              <a:t>  DISPLAY required input fields for selected disease </a:t>
            </a:r>
          </a:p>
          <a:p>
            <a:r>
              <a:rPr lang="en-US" dirty="0">
                <a:latin typeface="Times New Roman" panose="02020603050405020304" pitchFamily="18" charset="0"/>
                <a:cs typeface="Times New Roman" panose="02020603050405020304" pitchFamily="18" charset="0"/>
              </a:rPr>
              <a:t>  READ user values into form </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FOR each input:      </a:t>
            </a:r>
          </a:p>
          <a:p>
            <a:r>
              <a:rPr lang="en-US" dirty="0">
                <a:latin typeface="Times New Roman" panose="02020603050405020304" pitchFamily="18" charset="0"/>
                <a:cs typeface="Times New Roman" panose="02020603050405020304" pitchFamily="18" charset="0"/>
              </a:rPr>
              <a:t>     IF value is empty:            </a:t>
            </a:r>
          </a:p>
          <a:p>
            <a:r>
              <a:rPr lang="en-US" dirty="0">
                <a:latin typeface="Times New Roman" panose="02020603050405020304" pitchFamily="18" charset="0"/>
                <a:cs typeface="Times New Roman" panose="02020603050405020304" pitchFamily="18" charset="0"/>
              </a:rPr>
              <a:t>         SHOW error: "All fields are required"          </a:t>
            </a:r>
          </a:p>
          <a:p>
            <a:r>
              <a:rPr lang="en-US" dirty="0">
                <a:latin typeface="Times New Roman" panose="02020603050405020304" pitchFamily="18" charset="0"/>
                <a:cs typeface="Times New Roman" panose="02020603050405020304" pitchFamily="18" charset="0"/>
              </a:rPr>
              <a:t>         RETURN INVALID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IF value not in valid range:    </a:t>
            </a:r>
          </a:p>
          <a:p>
            <a:r>
              <a:rPr lang="en-US" dirty="0">
                <a:latin typeface="Times New Roman" panose="02020603050405020304" pitchFamily="18" charset="0"/>
                <a:cs typeface="Times New Roman" panose="02020603050405020304" pitchFamily="18" charset="0"/>
              </a:rPr>
              <a:t>        SHOW error: "Value out of allowed range"       </a:t>
            </a:r>
          </a:p>
          <a:p>
            <a:r>
              <a:rPr lang="en-US" dirty="0">
                <a:latin typeface="Times New Roman" panose="02020603050405020304" pitchFamily="18" charset="0"/>
                <a:cs typeface="Times New Roman" panose="02020603050405020304" pitchFamily="18" charset="0"/>
              </a:rPr>
              <a:t>        RETURN INVALID  </a:t>
            </a:r>
          </a:p>
          <a:p>
            <a:r>
              <a:rPr lang="en-US" dirty="0">
                <a:latin typeface="Times New Roman" panose="02020603050405020304" pitchFamily="18" charset="0"/>
                <a:cs typeface="Times New Roman" panose="02020603050405020304" pitchFamily="18" charset="0"/>
              </a:rPr>
              <a:t>  RETURN VALID</a:t>
            </a:r>
          </a:p>
          <a:p>
            <a:r>
              <a:rPr lang="en-US" dirty="0">
                <a:latin typeface="Times New Roman" panose="02020603050405020304" pitchFamily="18" charset="0"/>
                <a:cs typeface="Times New Roman" panose="02020603050405020304" pitchFamily="18" charset="0"/>
              </a:rPr>
              <a:t>FUNCTION </a:t>
            </a:r>
            <a:r>
              <a:rPr lang="en-US" dirty="0" err="1">
                <a:latin typeface="Times New Roman" panose="02020603050405020304" pitchFamily="18" charset="0"/>
                <a:cs typeface="Times New Roman" panose="02020603050405020304" pitchFamily="18" charset="0"/>
              </a:rPr>
              <a:t>preprocessInput</a:t>
            </a:r>
            <a:r>
              <a:rPr lang="en-US" dirty="0">
                <a:latin typeface="Times New Roman" panose="02020603050405020304" pitchFamily="18" charset="0"/>
                <a:cs typeface="Times New Roman" panose="02020603050405020304" pitchFamily="18" charset="0"/>
              </a:rPr>
              <a:t>(form):  </a:t>
            </a:r>
          </a:p>
          <a:p>
            <a:r>
              <a:rPr lang="en-US" dirty="0">
                <a:latin typeface="Times New Roman" panose="02020603050405020304" pitchFamily="18" charset="0"/>
                <a:cs typeface="Times New Roman" panose="02020603050405020304" pitchFamily="18" charset="0"/>
              </a:rPr>
              <a:t>  CONVERT all values to numerical format   </a:t>
            </a:r>
          </a:p>
          <a:p>
            <a:r>
              <a:rPr lang="en-US" dirty="0">
                <a:latin typeface="Times New Roman" panose="02020603050405020304" pitchFamily="18" charset="0"/>
                <a:cs typeface="Times New Roman" panose="02020603050405020304" pitchFamily="18" charset="0"/>
              </a:rPr>
              <a:t>  NORMALIZE or SCALE values (if required by model) </a:t>
            </a:r>
          </a:p>
          <a:p>
            <a:r>
              <a:rPr lang="en-US" dirty="0">
                <a:latin typeface="Times New Roman" panose="02020603050405020304" pitchFamily="18" charset="0"/>
                <a:cs typeface="Times New Roman" panose="02020603050405020304" pitchFamily="18" charset="0"/>
              </a:rPr>
              <a:t>  RETURN </a:t>
            </a:r>
            <a:r>
              <a:rPr lang="en-US" dirty="0" err="1">
                <a:latin typeface="Times New Roman" panose="02020603050405020304" pitchFamily="18" charset="0"/>
                <a:cs typeface="Times New Roman" panose="02020603050405020304" pitchFamily="18" charset="0"/>
              </a:rPr>
              <a:t>processedData</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476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5D9351-6BC9-3033-3241-5955A53DB5BF}"/>
              </a:ext>
            </a:extLst>
          </p:cNvPr>
          <p:cNvSpPr>
            <a:spLocks noGrp="1"/>
          </p:cNvSpPr>
          <p:nvPr>
            <p:ph type="body" idx="1"/>
          </p:nvPr>
        </p:nvSpPr>
        <p:spPr>
          <a:xfrm>
            <a:off x="311700" y="-105798"/>
            <a:ext cx="8520600" cy="5249298"/>
          </a:xfrm>
        </p:spPr>
        <p:txBody>
          <a:bodyPr>
            <a:noAutofit/>
          </a:bodyPr>
          <a:lstStyle/>
          <a:p>
            <a:r>
              <a:rPr lang="en-IN" sz="1000" dirty="0">
                <a:latin typeface="Times New Roman" panose="02020603050405020304" pitchFamily="18" charset="0"/>
                <a:cs typeface="Times New Roman" panose="02020603050405020304" pitchFamily="18" charset="0"/>
              </a:rPr>
              <a:t>FUNCTION </a:t>
            </a:r>
            <a:r>
              <a:rPr lang="en-IN" sz="1000" dirty="0" err="1">
                <a:latin typeface="Times New Roman" panose="02020603050405020304" pitchFamily="18" charset="0"/>
                <a:cs typeface="Times New Roman" panose="02020603050405020304" pitchFamily="18" charset="0"/>
              </a:rPr>
              <a:t>predictDisease</a:t>
            </a:r>
            <a:r>
              <a:rPr lang="en-IN" sz="1000" dirty="0">
                <a:latin typeface="Times New Roman" panose="02020603050405020304" pitchFamily="18" charset="0"/>
                <a:cs typeface="Times New Roman" panose="02020603050405020304" pitchFamily="18" charset="0"/>
              </a:rPr>
              <a:t>(disease, </a:t>
            </a:r>
            <a:r>
              <a:rPr lang="en-IN" sz="1000" dirty="0" err="1">
                <a:latin typeface="Times New Roman" panose="02020603050405020304" pitchFamily="18" charset="0"/>
                <a:cs typeface="Times New Roman" panose="02020603050405020304" pitchFamily="18" charset="0"/>
              </a:rPr>
              <a:t>processedData</a:t>
            </a:r>
            <a:r>
              <a:rPr lang="en-IN" sz="1000" dirty="0">
                <a:latin typeface="Times New Roman" panose="02020603050405020304" pitchFamily="18" charset="0"/>
                <a:cs typeface="Times New Roman" panose="02020603050405020304" pitchFamily="18" charset="0"/>
              </a:rPr>
              <a:t>):    </a:t>
            </a:r>
          </a:p>
          <a:p>
            <a:r>
              <a:rPr lang="en-IN" sz="1000" dirty="0">
                <a:latin typeface="Times New Roman" panose="02020603050405020304" pitchFamily="18" charset="0"/>
                <a:cs typeface="Times New Roman" panose="02020603050405020304" pitchFamily="18" charset="0"/>
              </a:rPr>
              <a:t>    LOAD selected model   </a:t>
            </a:r>
          </a:p>
          <a:p>
            <a:r>
              <a:rPr lang="en-IN" sz="1000" dirty="0">
                <a:latin typeface="Times New Roman" panose="02020603050405020304" pitchFamily="18" charset="0"/>
                <a:cs typeface="Times New Roman" panose="02020603050405020304" pitchFamily="18" charset="0"/>
              </a:rPr>
              <a:t>    prediction = </a:t>
            </a:r>
            <a:r>
              <a:rPr lang="en-IN" sz="1000" dirty="0" err="1">
                <a:latin typeface="Times New Roman" panose="02020603050405020304" pitchFamily="18" charset="0"/>
                <a:cs typeface="Times New Roman" panose="02020603050405020304" pitchFamily="18" charset="0"/>
              </a:rPr>
              <a:t>model.predict</a:t>
            </a:r>
            <a:r>
              <a:rPr lang="en-IN" sz="1000" dirty="0">
                <a:latin typeface="Times New Roman" panose="02020603050405020304" pitchFamily="18" charset="0"/>
                <a:cs typeface="Times New Roman" panose="02020603050405020304" pitchFamily="18" charset="0"/>
              </a:rPr>
              <a:t>(</a:t>
            </a:r>
            <a:r>
              <a:rPr lang="en-IN" sz="1000" dirty="0" err="1">
                <a:latin typeface="Times New Roman" panose="02020603050405020304" pitchFamily="18" charset="0"/>
                <a:cs typeface="Times New Roman" panose="02020603050405020304" pitchFamily="18" charset="0"/>
              </a:rPr>
              <a:t>processedData</a:t>
            </a:r>
            <a:r>
              <a:rPr lang="en-IN" sz="1000" dirty="0">
                <a:latin typeface="Times New Roman" panose="02020603050405020304" pitchFamily="18" charset="0"/>
                <a:cs typeface="Times New Roman" panose="02020603050405020304" pitchFamily="18" charset="0"/>
              </a:rPr>
              <a:t>)  </a:t>
            </a:r>
          </a:p>
          <a:p>
            <a:r>
              <a:rPr lang="en-IN" sz="1000" dirty="0">
                <a:latin typeface="Times New Roman" panose="02020603050405020304" pitchFamily="18" charset="0"/>
                <a:cs typeface="Times New Roman" panose="02020603050405020304" pitchFamily="18" charset="0"/>
              </a:rPr>
              <a:t>    IF prediction == 1:      </a:t>
            </a:r>
          </a:p>
          <a:p>
            <a:r>
              <a:rPr lang="en-IN" sz="1000" dirty="0">
                <a:latin typeface="Times New Roman" panose="02020603050405020304" pitchFamily="18" charset="0"/>
                <a:cs typeface="Times New Roman" panose="02020603050405020304" pitchFamily="18" charset="0"/>
              </a:rPr>
              <a:t>        result = "Positive / High Risk"  </a:t>
            </a:r>
          </a:p>
          <a:p>
            <a:r>
              <a:rPr lang="en-IN" sz="1000" dirty="0">
                <a:latin typeface="Times New Roman" panose="02020603050405020304" pitchFamily="18" charset="0"/>
                <a:cs typeface="Times New Roman" panose="02020603050405020304" pitchFamily="18" charset="0"/>
              </a:rPr>
              <a:t>  ELSE:      </a:t>
            </a:r>
          </a:p>
          <a:p>
            <a:r>
              <a:rPr lang="en-IN" sz="1000" dirty="0">
                <a:latin typeface="Times New Roman" panose="02020603050405020304" pitchFamily="18" charset="0"/>
                <a:cs typeface="Times New Roman" panose="02020603050405020304" pitchFamily="18" charset="0"/>
              </a:rPr>
              <a:t>      result = "Negative / Low Risk"   </a:t>
            </a:r>
          </a:p>
          <a:p>
            <a:r>
              <a:rPr lang="en-IN" sz="1000" dirty="0">
                <a:latin typeface="Times New Roman" panose="02020603050405020304" pitchFamily="18" charset="0"/>
                <a:cs typeface="Times New Roman" panose="02020603050405020304" pitchFamily="18" charset="0"/>
              </a:rPr>
              <a:t>  RETURN result</a:t>
            </a:r>
          </a:p>
          <a:p>
            <a:endParaRPr lang="en-IN" sz="1000" dirty="0">
              <a:latin typeface="Times New Roman" panose="02020603050405020304" pitchFamily="18" charset="0"/>
              <a:cs typeface="Times New Roman" panose="02020603050405020304" pitchFamily="18" charset="0"/>
            </a:endParaRPr>
          </a:p>
          <a:p>
            <a:r>
              <a:rPr lang="en-IN" sz="1000" dirty="0">
                <a:latin typeface="Times New Roman" panose="02020603050405020304" pitchFamily="18" charset="0"/>
                <a:cs typeface="Times New Roman" panose="02020603050405020304" pitchFamily="18" charset="0"/>
              </a:rPr>
              <a:t>FUNCTION </a:t>
            </a:r>
            <a:r>
              <a:rPr lang="en-IN" sz="1000" dirty="0" err="1">
                <a:latin typeface="Times New Roman" panose="02020603050405020304" pitchFamily="18" charset="0"/>
                <a:cs typeface="Times New Roman" panose="02020603050405020304" pitchFamily="18" charset="0"/>
              </a:rPr>
              <a:t>displayResult</a:t>
            </a:r>
            <a:r>
              <a:rPr lang="en-IN" sz="1000" dirty="0">
                <a:latin typeface="Times New Roman" panose="02020603050405020304" pitchFamily="18" charset="0"/>
                <a:cs typeface="Times New Roman" panose="02020603050405020304" pitchFamily="18" charset="0"/>
              </a:rPr>
              <a:t>(disease, result):  </a:t>
            </a:r>
          </a:p>
          <a:p>
            <a:r>
              <a:rPr lang="en-IN" sz="1000" dirty="0">
                <a:latin typeface="Times New Roman" panose="02020603050405020304" pitchFamily="18" charset="0"/>
                <a:cs typeface="Times New Roman" panose="02020603050405020304" pitchFamily="18" charset="0"/>
              </a:rPr>
              <a:t>  IF result is Positive:       </a:t>
            </a:r>
          </a:p>
          <a:p>
            <a:r>
              <a:rPr lang="en-IN" sz="1000" dirty="0">
                <a:latin typeface="Times New Roman" panose="02020603050405020304" pitchFamily="18" charset="0"/>
                <a:cs typeface="Times New Roman" panose="02020603050405020304" pitchFamily="18" charset="0"/>
              </a:rPr>
              <a:t>     SHOW risk card with:          </a:t>
            </a:r>
          </a:p>
          <a:p>
            <a:r>
              <a:rPr lang="en-IN" sz="1000" dirty="0">
                <a:latin typeface="Times New Roman" panose="02020603050405020304" pitchFamily="18" charset="0"/>
                <a:cs typeface="Times New Roman" panose="02020603050405020304" pitchFamily="18" charset="0"/>
              </a:rPr>
              <a:t>       - Disease name          </a:t>
            </a:r>
          </a:p>
          <a:p>
            <a:r>
              <a:rPr lang="en-IN" sz="1000" dirty="0">
                <a:latin typeface="Times New Roman" panose="02020603050405020304" pitchFamily="18" charset="0"/>
                <a:cs typeface="Times New Roman" panose="02020603050405020304" pitchFamily="18" charset="0"/>
              </a:rPr>
              <a:t>       - Danger / Alert message     </a:t>
            </a:r>
          </a:p>
          <a:p>
            <a:r>
              <a:rPr lang="en-IN" sz="1000" dirty="0">
                <a:latin typeface="Times New Roman" panose="02020603050405020304" pitchFamily="18" charset="0"/>
                <a:cs typeface="Times New Roman" panose="02020603050405020304" pitchFamily="18" charset="0"/>
              </a:rPr>
              <a:t>       - Precautions and early intervention tips    </a:t>
            </a:r>
          </a:p>
          <a:p>
            <a:r>
              <a:rPr lang="en-IN" sz="1000" dirty="0">
                <a:latin typeface="Times New Roman" panose="02020603050405020304" pitchFamily="18" charset="0"/>
                <a:cs typeface="Times New Roman" panose="02020603050405020304" pitchFamily="18" charset="0"/>
              </a:rPr>
              <a:t>ELSE:     </a:t>
            </a:r>
          </a:p>
          <a:p>
            <a:r>
              <a:rPr lang="en-IN" sz="1000" dirty="0">
                <a:latin typeface="Times New Roman" panose="02020603050405020304" pitchFamily="18" charset="0"/>
                <a:cs typeface="Times New Roman" panose="02020603050405020304" pitchFamily="18" charset="0"/>
              </a:rPr>
              <a:t>   SHOW safe status message</a:t>
            </a:r>
          </a:p>
          <a:p>
            <a:pPr marL="114300" indent="0">
              <a:buNone/>
            </a:pPr>
            <a:r>
              <a:rPr lang="en-IN" sz="1000" dirty="0">
                <a:latin typeface="Times New Roman" panose="02020603050405020304" pitchFamily="18" charset="0"/>
                <a:cs typeface="Times New Roman" panose="02020603050405020304" pitchFamily="18" charset="0"/>
              </a:rPr>
              <a:t>     FUNCTION </a:t>
            </a:r>
            <a:r>
              <a:rPr lang="en-IN" sz="1000" dirty="0" err="1">
                <a:latin typeface="Times New Roman" panose="02020603050405020304" pitchFamily="18" charset="0"/>
                <a:cs typeface="Times New Roman" panose="02020603050405020304" pitchFamily="18" charset="0"/>
              </a:rPr>
              <a:t>resetForm</a:t>
            </a:r>
            <a:r>
              <a:rPr lang="en-IN" sz="1000" dirty="0">
                <a:latin typeface="Times New Roman" panose="02020603050405020304" pitchFamily="18" charset="0"/>
                <a:cs typeface="Times New Roman" panose="02020603050405020304" pitchFamily="18" charset="0"/>
              </a:rPr>
              <a:t>():    </a:t>
            </a:r>
          </a:p>
          <a:p>
            <a:r>
              <a:rPr lang="en-IN" sz="1000" dirty="0">
                <a:latin typeface="Times New Roman" panose="02020603050405020304" pitchFamily="18" charset="0"/>
                <a:cs typeface="Times New Roman" panose="02020603050405020304" pitchFamily="18" charset="0"/>
              </a:rPr>
              <a:t>CLEAR all input fields    </a:t>
            </a:r>
          </a:p>
          <a:p>
            <a:r>
              <a:rPr lang="en-IN" sz="1000" dirty="0">
                <a:latin typeface="Times New Roman" panose="02020603050405020304" pitchFamily="18" charset="0"/>
                <a:cs typeface="Times New Roman" panose="02020603050405020304" pitchFamily="18" charset="0"/>
              </a:rPr>
              <a:t>CLEAR error and result</a:t>
            </a:r>
          </a:p>
          <a:p>
            <a:pPr marL="114300" indent="0">
              <a:buNone/>
            </a:pPr>
            <a:r>
              <a:rPr lang="en-IN" sz="1000" dirty="0">
                <a:latin typeface="Times New Roman" panose="02020603050405020304" pitchFamily="18" charset="0"/>
                <a:cs typeface="Times New Roman" panose="02020603050405020304" pitchFamily="18" charset="0"/>
              </a:rPr>
              <a:t>     MAIN WORKFLOW:   </a:t>
            </a:r>
          </a:p>
          <a:p>
            <a:r>
              <a:rPr lang="en-IN" sz="1000" dirty="0">
                <a:latin typeface="Times New Roman" panose="02020603050405020304" pitchFamily="18" charset="0"/>
                <a:cs typeface="Times New Roman" panose="02020603050405020304" pitchFamily="18" charset="0"/>
              </a:rPr>
              <a:t> DISPLAY list of diseases to user   </a:t>
            </a:r>
          </a:p>
          <a:p>
            <a:r>
              <a:rPr lang="en-IN" sz="1000" dirty="0">
                <a:latin typeface="Times New Roman" panose="02020603050405020304" pitchFamily="18" charset="0"/>
                <a:cs typeface="Times New Roman" panose="02020603050405020304" pitchFamily="18" charset="0"/>
              </a:rPr>
              <a:t> </a:t>
            </a:r>
            <a:r>
              <a:rPr lang="en-IN" sz="1000" dirty="0" err="1">
                <a:latin typeface="Times New Roman" panose="02020603050405020304" pitchFamily="18" charset="0"/>
                <a:cs typeface="Times New Roman" panose="02020603050405020304" pitchFamily="18" charset="0"/>
              </a:rPr>
              <a:t>userChoice</a:t>
            </a:r>
            <a:r>
              <a:rPr lang="en-IN" sz="1000" dirty="0">
                <a:latin typeface="Times New Roman" panose="02020603050405020304" pitchFamily="18" charset="0"/>
                <a:cs typeface="Times New Roman" panose="02020603050405020304" pitchFamily="18" charset="0"/>
              </a:rPr>
              <a:t> = SELECT disease </a:t>
            </a:r>
          </a:p>
          <a:p>
            <a:r>
              <a:rPr lang="en-IN" sz="1000" dirty="0">
                <a:latin typeface="Times New Roman" panose="02020603050405020304" pitchFamily="18" charset="0"/>
                <a:cs typeface="Times New Roman" panose="02020603050405020304" pitchFamily="18" charset="0"/>
              </a:rPr>
              <a:t>  </a:t>
            </a:r>
          </a:p>
          <a:p>
            <a:r>
              <a:rPr lang="en-IN" sz="1000" dirty="0">
                <a:latin typeface="Times New Roman" panose="02020603050405020304" pitchFamily="18" charset="0"/>
                <a:cs typeface="Times New Roman" panose="02020603050405020304" pitchFamily="18" charset="0"/>
              </a:rPr>
              <a:t> VALID = </a:t>
            </a:r>
            <a:r>
              <a:rPr lang="en-IN" sz="1000" dirty="0" err="1">
                <a:latin typeface="Times New Roman" panose="02020603050405020304" pitchFamily="18" charset="0"/>
                <a:cs typeface="Times New Roman" panose="02020603050405020304" pitchFamily="18" charset="0"/>
              </a:rPr>
              <a:t>getUserInput</a:t>
            </a:r>
            <a:r>
              <a:rPr lang="en-IN" sz="1000" dirty="0">
                <a:latin typeface="Times New Roman" panose="02020603050405020304" pitchFamily="18" charset="0"/>
                <a:cs typeface="Times New Roman" panose="02020603050405020304" pitchFamily="18" charset="0"/>
              </a:rPr>
              <a:t>(</a:t>
            </a:r>
            <a:r>
              <a:rPr lang="en-IN" sz="1000" dirty="0" err="1">
                <a:latin typeface="Times New Roman" panose="02020603050405020304" pitchFamily="18" charset="0"/>
                <a:cs typeface="Times New Roman" panose="02020603050405020304" pitchFamily="18" charset="0"/>
              </a:rPr>
              <a:t>userChoice</a:t>
            </a:r>
            <a:r>
              <a:rPr lang="en-IN" sz="1000" dirty="0">
                <a:latin typeface="Times New Roman" panose="02020603050405020304" pitchFamily="18" charset="0"/>
                <a:cs typeface="Times New Roman" panose="02020603050405020304" pitchFamily="18" charset="0"/>
              </a:rPr>
              <a:t>)   </a:t>
            </a:r>
          </a:p>
          <a:p>
            <a:r>
              <a:rPr lang="en-IN" sz="1000" dirty="0">
                <a:latin typeface="Times New Roman" panose="02020603050405020304" pitchFamily="18" charset="0"/>
                <a:cs typeface="Times New Roman" panose="02020603050405020304" pitchFamily="18" charset="0"/>
              </a:rPr>
              <a:t> IF VALID == INVALID:      </a:t>
            </a:r>
          </a:p>
          <a:p>
            <a:r>
              <a:rPr lang="en-IN" sz="1000" dirty="0">
                <a:latin typeface="Times New Roman" panose="02020603050405020304" pitchFamily="18" charset="0"/>
                <a:cs typeface="Times New Roman" panose="02020603050405020304" pitchFamily="18" charset="0"/>
              </a:rPr>
              <a:t>     STOP and ask user to re-enter values   </a:t>
            </a:r>
          </a:p>
          <a:p>
            <a:r>
              <a:rPr lang="en-IN" sz="1000" dirty="0">
                <a:latin typeface="Times New Roman" panose="02020603050405020304" pitchFamily="18" charset="0"/>
                <a:cs typeface="Times New Roman" panose="02020603050405020304" pitchFamily="18" charset="0"/>
              </a:rPr>
              <a:t> </a:t>
            </a:r>
            <a:r>
              <a:rPr lang="en-IN" sz="1000" dirty="0" err="1">
                <a:latin typeface="Times New Roman" panose="02020603050405020304" pitchFamily="18" charset="0"/>
                <a:cs typeface="Times New Roman" panose="02020603050405020304" pitchFamily="18" charset="0"/>
              </a:rPr>
              <a:t>processedData</a:t>
            </a:r>
            <a:r>
              <a:rPr lang="en-IN" sz="1000" dirty="0">
                <a:latin typeface="Times New Roman" panose="02020603050405020304" pitchFamily="18" charset="0"/>
                <a:cs typeface="Times New Roman" panose="02020603050405020304" pitchFamily="18" charset="0"/>
              </a:rPr>
              <a:t> = </a:t>
            </a:r>
            <a:r>
              <a:rPr lang="en-IN" sz="1000" dirty="0" err="1">
                <a:latin typeface="Times New Roman" panose="02020603050405020304" pitchFamily="18" charset="0"/>
                <a:cs typeface="Times New Roman" panose="02020603050405020304" pitchFamily="18" charset="0"/>
              </a:rPr>
              <a:t>preprocessInput</a:t>
            </a:r>
            <a:r>
              <a:rPr lang="en-IN" sz="1000" dirty="0">
                <a:latin typeface="Times New Roman" panose="02020603050405020304" pitchFamily="18" charset="0"/>
                <a:cs typeface="Times New Roman" panose="02020603050405020304" pitchFamily="18" charset="0"/>
              </a:rPr>
              <a:t>(form)  </a:t>
            </a:r>
          </a:p>
          <a:p>
            <a:r>
              <a:rPr lang="en-IN" sz="1000" dirty="0">
                <a:latin typeface="Times New Roman" panose="02020603050405020304" pitchFamily="18" charset="0"/>
                <a:cs typeface="Times New Roman" panose="02020603050405020304" pitchFamily="18" charset="0"/>
              </a:rPr>
              <a:t>  result = </a:t>
            </a:r>
            <a:r>
              <a:rPr lang="en-IN" sz="1000" dirty="0" err="1">
                <a:latin typeface="Times New Roman" panose="02020603050405020304" pitchFamily="18" charset="0"/>
                <a:cs typeface="Times New Roman" panose="02020603050405020304" pitchFamily="18" charset="0"/>
              </a:rPr>
              <a:t>predictDisease</a:t>
            </a:r>
            <a:r>
              <a:rPr lang="en-IN" sz="1000" dirty="0">
                <a:latin typeface="Times New Roman" panose="02020603050405020304" pitchFamily="18" charset="0"/>
                <a:cs typeface="Times New Roman" panose="02020603050405020304" pitchFamily="18" charset="0"/>
              </a:rPr>
              <a:t>(</a:t>
            </a:r>
            <a:r>
              <a:rPr lang="en-IN" sz="1000" dirty="0" err="1">
                <a:latin typeface="Times New Roman" panose="02020603050405020304" pitchFamily="18" charset="0"/>
                <a:cs typeface="Times New Roman" panose="02020603050405020304" pitchFamily="18" charset="0"/>
              </a:rPr>
              <a:t>userChoice</a:t>
            </a:r>
            <a:r>
              <a:rPr lang="en-IN" sz="1000" dirty="0">
                <a:latin typeface="Times New Roman" panose="02020603050405020304" pitchFamily="18" charset="0"/>
                <a:cs typeface="Times New Roman" panose="02020603050405020304" pitchFamily="18" charset="0"/>
              </a:rPr>
              <a:t>, </a:t>
            </a:r>
            <a:r>
              <a:rPr lang="en-IN" sz="1000" dirty="0" err="1">
                <a:latin typeface="Times New Roman" panose="02020603050405020304" pitchFamily="18" charset="0"/>
                <a:cs typeface="Times New Roman" panose="02020603050405020304" pitchFamily="18" charset="0"/>
              </a:rPr>
              <a:t>processedData</a:t>
            </a:r>
            <a:r>
              <a:rPr lang="en-IN" sz="1000" dirty="0">
                <a:latin typeface="Times New Roman" panose="02020603050405020304" pitchFamily="18" charset="0"/>
                <a:cs typeface="Times New Roman" panose="02020603050405020304" pitchFamily="18" charset="0"/>
              </a:rPr>
              <a:t>) </a:t>
            </a:r>
          </a:p>
          <a:p>
            <a:r>
              <a:rPr lang="en-IN" sz="1000" dirty="0">
                <a:latin typeface="Times New Roman" panose="02020603050405020304" pitchFamily="18" charset="0"/>
                <a:cs typeface="Times New Roman" panose="02020603050405020304" pitchFamily="18" charset="0"/>
              </a:rPr>
              <a:t>   </a:t>
            </a:r>
            <a:r>
              <a:rPr lang="en-IN" sz="1000" dirty="0" err="1">
                <a:latin typeface="Times New Roman" panose="02020603050405020304" pitchFamily="18" charset="0"/>
                <a:cs typeface="Times New Roman" panose="02020603050405020304" pitchFamily="18" charset="0"/>
              </a:rPr>
              <a:t>displayResult</a:t>
            </a:r>
            <a:r>
              <a:rPr lang="en-IN" sz="1000" dirty="0">
                <a:latin typeface="Times New Roman" panose="02020603050405020304" pitchFamily="18" charset="0"/>
                <a:cs typeface="Times New Roman" panose="02020603050405020304" pitchFamily="18" charset="0"/>
              </a:rPr>
              <a:t>(</a:t>
            </a:r>
            <a:r>
              <a:rPr lang="en-IN" sz="1000" dirty="0" err="1">
                <a:latin typeface="Times New Roman" panose="02020603050405020304" pitchFamily="18" charset="0"/>
                <a:cs typeface="Times New Roman" panose="02020603050405020304" pitchFamily="18" charset="0"/>
              </a:rPr>
              <a:t>userChoice</a:t>
            </a:r>
            <a:r>
              <a:rPr lang="en-IN" sz="1000" dirty="0">
                <a:latin typeface="Times New Roman" panose="02020603050405020304" pitchFamily="18" charset="0"/>
                <a:cs typeface="Times New Roman" panose="02020603050405020304" pitchFamily="18" charset="0"/>
              </a:rPr>
              <a:t>, result)  </a:t>
            </a:r>
          </a:p>
          <a:p>
            <a:endParaRPr lang="en-IN" sz="1000" dirty="0">
              <a:latin typeface="Times New Roman" panose="02020603050405020304" pitchFamily="18" charset="0"/>
              <a:cs typeface="Times New Roman" panose="02020603050405020304" pitchFamily="18" charset="0"/>
            </a:endParaRPr>
          </a:p>
          <a:p>
            <a:r>
              <a:rPr lang="en-IN" sz="1000" dirty="0">
                <a:latin typeface="Times New Roman" panose="02020603050405020304" pitchFamily="18" charset="0"/>
                <a:cs typeface="Times New Roman" panose="02020603050405020304" pitchFamily="18" charset="0"/>
              </a:rPr>
              <a:t>  OPTION: Allow user to reset or check another disease</a:t>
            </a:r>
          </a:p>
          <a:p>
            <a:endParaRPr lang="en-IN" sz="1000" dirty="0">
              <a:latin typeface="Times New Roman" panose="02020603050405020304" pitchFamily="18" charset="0"/>
              <a:cs typeface="Times New Roman" panose="02020603050405020304" pitchFamily="18" charset="0"/>
            </a:endParaRPr>
          </a:p>
          <a:p>
            <a:r>
              <a:rPr lang="en-IN" sz="1000" dirty="0">
                <a:latin typeface="Times New Roman" panose="02020603050405020304" pitchFamily="18" charset="0"/>
                <a:cs typeface="Times New Roman" panose="02020603050405020304" pitchFamily="18" charset="0"/>
              </a:rPr>
              <a:t>END</a:t>
            </a:r>
          </a:p>
        </p:txBody>
      </p:sp>
    </p:spTree>
    <p:extLst>
      <p:ext uri="{BB962C8B-B14F-4D97-AF65-F5344CB8AC3E}">
        <p14:creationId xmlns:p14="http://schemas.microsoft.com/office/powerpoint/2010/main" val="1348596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0"/>
            <a:ext cx="8520600" cy="607800"/>
          </a:xfrm>
        </p:spPr>
        <p:txBody>
          <a:bodyPr>
            <a:normAutofit fontScale="90000"/>
          </a:bodyPr>
          <a:lstStyle/>
          <a:p>
            <a:pPr algn="ctr"/>
            <a:r>
              <a:rPr lang="en-IN" sz="2800" b="1" u="sng" dirty="0">
                <a:solidFill>
                  <a:schemeClr val="accent1">
                    <a:lumMod val="75000"/>
                  </a:schemeClr>
                </a:solidFill>
                <a:latin typeface="Times New Roman" panose="02020603050405020304" pitchFamily="18" charset="0"/>
                <a:cs typeface="Times New Roman" panose="02020603050405020304" pitchFamily="18" charset="0"/>
              </a:rPr>
              <a:t>RESULTS AND DISCUSSIONS</a:t>
            </a:r>
            <a:br>
              <a:rPr lang="en-IN" sz="2800" b="1" dirty="0">
                <a:solidFill>
                  <a:schemeClr val="accent1">
                    <a:lumMod val="75000"/>
                  </a:schemeClr>
                </a:solidFill>
                <a:latin typeface="Times New Roman" panose="02020603050405020304" pitchFamily="18" charset="0"/>
                <a:cs typeface="Times New Roman" panose="02020603050405020304" pitchFamily="18" charset="0"/>
              </a:rPr>
            </a:br>
            <a:endParaRPr lang="en-IN" b="1" u="sng" dirty="0"/>
          </a:p>
        </p:txBody>
      </p:sp>
      <p:sp>
        <p:nvSpPr>
          <p:cNvPr id="9" name="TextBox 8">
            <a:extLst>
              <a:ext uri="{FF2B5EF4-FFF2-40B4-BE49-F238E27FC236}">
                <a16:creationId xmlns:a16="http://schemas.microsoft.com/office/drawing/2014/main" id="{21CB449B-4209-9A9B-C1C6-7588E80AC502}"/>
              </a:ext>
            </a:extLst>
          </p:cNvPr>
          <p:cNvSpPr txBox="1"/>
          <p:nvPr/>
        </p:nvSpPr>
        <p:spPr>
          <a:xfrm>
            <a:off x="949729" y="4578033"/>
            <a:ext cx="6440286" cy="458074"/>
          </a:xfrm>
          <a:prstGeom prst="rect">
            <a:avLst/>
          </a:prstGeom>
          <a:noFill/>
        </p:spPr>
        <p:txBody>
          <a:bodyPr wrap="square">
            <a:spAutoFit/>
          </a:bodyPr>
          <a:lstStyle/>
          <a:p>
            <a:pPr marL="114300" indent="0" algn="ctr">
              <a:lnSpc>
                <a:spcPct val="150000"/>
              </a:lnSpc>
              <a:buNone/>
            </a:pPr>
            <a:r>
              <a:rPr lang="en-US" sz="1800" dirty="0">
                <a:latin typeface="Times New Roman" panose="02020603050405020304" pitchFamily="18" charset="0"/>
                <a:cs typeface="Times New Roman" panose="02020603050405020304" pitchFamily="18" charset="0"/>
              </a:rPr>
              <a:t>Figure 1: Home Page of the System  </a:t>
            </a:r>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06F4A4B5-EA90-1CD7-267C-BCECD6E7A82E}"/>
              </a:ext>
            </a:extLst>
          </p:cNvPr>
          <p:cNvPicPr>
            <a:picLocks noChangeAspect="1"/>
          </p:cNvPicPr>
          <p:nvPr/>
        </p:nvPicPr>
        <p:blipFill>
          <a:blip r:embed="rId3"/>
          <a:stretch>
            <a:fillRect/>
          </a:stretch>
        </p:blipFill>
        <p:spPr>
          <a:xfrm>
            <a:off x="1" y="652481"/>
            <a:ext cx="4480560" cy="3844704"/>
          </a:xfrm>
          <a:prstGeom prst="rect">
            <a:avLst/>
          </a:prstGeom>
        </p:spPr>
      </p:pic>
      <p:pic>
        <p:nvPicPr>
          <p:cNvPr id="15" name="Picture 14">
            <a:extLst>
              <a:ext uri="{FF2B5EF4-FFF2-40B4-BE49-F238E27FC236}">
                <a16:creationId xmlns:a16="http://schemas.microsoft.com/office/drawing/2014/main" id="{3945CCCC-8B43-6D74-46E0-F6103C1FA3A9}"/>
              </a:ext>
            </a:extLst>
          </p:cNvPr>
          <p:cNvPicPr>
            <a:picLocks noChangeAspect="1"/>
          </p:cNvPicPr>
          <p:nvPr/>
        </p:nvPicPr>
        <p:blipFill>
          <a:blip r:embed="rId4"/>
          <a:stretch>
            <a:fillRect/>
          </a:stretch>
        </p:blipFill>
        <p:spPr>
          <a:xfrm>
            <a:off x="4721629" y="630140"/>
            <a:ext cx="4422370" cy="3844703"/>
          </a:xfrm>
          <a:prstGeom prst="rect">
            <a:avLst/>
          </a:prstGeom>
        </p:spPr>
      </p:pic>
    </p:spTree>
    <p:extLst>
      <p:ext uri="{BB962C8B-B14F-4D97-AF65-F5344CB8AC3E}">
        <p14:creationId xmlns:p14="http://schemas.microsoft.com/office/powerpoint/2010/main" val="2031448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9D669FD-2D0D-136A-4674-AF4E7BA2D735}"/>
              </a:ext>
            </a:extLst>
          </p:cNvPr>
          <p:cNvPicPr>
            <a:picLocks noChangeAspect="1"/>
          </p:cNvPicPr>
          <p:nvPr/>
        </p:nvPicPr>
        <p:blipFill>
          <a:blip r:embed="rId2"/>
          <a:stretch>
            <a:fillRect/>
          </a:stretch>
        </p:blipFill>
        <p:spPr>
          <a:xfrm>
            <a:off x="2427316" y="547217"/>
            <a:ext cx="4289367" cy="3888758"/>
          </a:xfrm>
          <a:prstGeom prst="rect">
            <a:avLst/>
          </a:prstGeom>
        </p:spPr>
      </p:pic>
      <p:sp>
        <p:nvSpPr>
          <p:cNvPr id="9" name="TextBox 8">
            <a:extLst>
              <a:ext uri="{FF2B5EF4-FFF2-40B4-BE49-F238E27FC236}">
                <a16:creationId xmlns:a16="http://schemas.microsoft.com/office/drawing/2014/main" id="{0D3C31E8-ED3A-237C-9549-A3132E424F6F}"/>
              </a:ext>
            </a:extLst>
          </p:cNvPr>
          <p:cNvSpPr txBox="1"/>
          <p:nvPr/>
        </p:nvSpPr>
        <p:spPr>
          <a:xfrm>
            <a:off x="128846" y="85498"/>
            <a:ext cx="8886305" cy="400110"/>
          </a:xfrm>
          <a:prstGeom prst="rect">
            <a:avLst/>
          </a:prstGeom>
          <a:noFill/>
        </p:spPr>
        <p:txBody>
          <a:bodyPr wrap="square">
            <a:spAutoFit/>
          </a:bodyPr>
          <a:lstStyle/>
          <a:p>
            <a:pPr algn="ctr"/>
            <a:r>
              <a:rPr lang="en-IN" sz="2000" b="1" u="sng" dirty="0">
                <a:solidFill>
                  <a:schemeClr val="accent1">
                    <a:lumMod val="75000"/>
                  </a:schemeClr>
                </a:solidFill>
                <a:latin typeface="Times New Roman" panose="02020603050405020304" pitchFamily="18" charset="0"/>
                <a:cs typeface="Times New Roman" panose="02020603050405020304" pitchFamily="18" charset="0"/>
              </a:rPr>
              <a:t>RESULTS AND DISCUSSIONS</a:t>
            </a:r>
            <a:endParaRPr lang="en-IN" sz="2000" dirty="0"/>
          </a:p>
        </p:txBody>
      </p:sp>
      <p:sp>
        <p:nvSpPr>
          <p:cNvPr id="2" name="TextBox 1">
            <a:extLst>
              <a:ext uri="{FF2B5EF4-FFF2-40B4-BE49-F238E27FC236}">
                <a16:creationId xmlns:a16="http://schemas.microsoft.com/office/drawing/2014/main" id="{F48A4A14-58E4-8329-2ACD-46182DD07331}"/>
              </a:ext>
            </a:extLst>
          </p:cNvPr>
          <p:cNvSpPr txBox="1"/>
          <p:nvPr/>
        </p:nvSpPr>
        <p:spPr>
          <a:xfrm>
            <a:off x="2584503" y="4535371"/>
            <a:ext cx="4289367" cy="369332"/>
          </a:xfrm>
          <a:prstGeom prst="rect">
            <a:avLst/>
          </a:prstGeom>
          <a:noFill/>
        </p:spPr>
        <p:txBody>
          <a:bodyPr wrap="square" rtlCol="0">
            <a:spAutoFit/>
          </a:bodyPr>
          <a:lstStyle/>
          <a:p>
            <a:r>
              <a:rPr lang="en-IN" dirty="0"/>
              <a:t>Fig 2: Diabetes pre-testing input form</a:t>
            </a:r>
          </a:p>
        </p:txBody>
      </p:sp>
    </p:spTree>
    <p:extLst>
      <p:ext uri="{BB962C8B-B14F-4D97-AF65-F5344CB8AC3E}">
        <p14:creationId xmlns:p14="http://schemas.microsoft.com/office/powerpoint/2010/main" val="2027855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A5EA709-3A1C-D83A-0BAC-D509A7FEC23B}"/>
              </a:ext>
            </a:extLst>
          </p:cNvPr>
          <p:cNvPicPr>
            <a:picLocks noChangeAspect="1"/>
          </p:cNvPicPr>
          <p:nvPr/>
        </p:nvPicPr>
        <p:blipFill>
          <a:blip r:embed="rId2"/>
          <a:stretch>
            <a:fillRect/>
          </a:stretch>
        </p:blipFill>
        <p:spPr>
          <a:xfrm>
            <a:off x="4572000" y="611638"/>
            <a:ext cx="4430684" cy="3920221"/>
          </a:xfrm>
          <a:prstGeom prst="rect">
            <a:avLst/>
          </a:prstGeom>
        </p:spPr>
      </p:pic>
      <p:pic>
        <p:nvPicPr>
          <p:cNvPr id="11" name="Picture 10">
            <a:extLst>
              <a:ext uri="{FF2B5EF4-FFF2-40B4-BE49-F238E27FC236}">
                <a16:creationId xmlns:a16="http://schemas.microsoft.com/office/drawing/2014/main" id="{A78E13AF-4E75-29BD-C663-55191838DCBB}"/>
              </a:ext>
            </a:extLst>
          </p:cNvPr>
          <p:cNvPicPr>
            <a:picLocks noChangeAspect="1"/>
          </p:cNvPicPr>
          <p:nvPr/>
        </p:nvPicPr>
        <p:blipFill>
          <a:blip r:embed="rId3"/>
          <a:stretch>
            <a:fillRect/>
          </a:stretch>
        </p:blipFill>
        <p:spPr>
          <a:xfrm>
            <a:off x="141317" y="611639"/>
            <a:ext cx="4430683" cy="3920221"/>
          </a:xfrm>
          <a:prstGeom prst="rect">
            <a:avLst/>
          </a:prstGeom>
        </p:spPr>
      </p:pic>
      <p:sp>
        <p:nvSpPr>
          <p:cNvPr id="13" name="TextBox 12">
            <a:extLst>
              <a:ext uri="{FF2B5EF4-FFF2-40B4-BE49-F238E27FC236}">
                <a16:creationId xmlns:a16="http://schemas.microsoft.com/office/drawing/2014/main" id="{BB976635-12B4-7C9D-7C93-5DE580ACAEFA}"/>
              </a:ext>
            </a:extLst>
          </p:cNvPr>
          <p:cNvSpPr txBox="1"/>
          <p:nvPr/>
        </p:nvSpPr>
        <p:spPr>
          <a:xfrm>
            <a:off x="2425238" y="85497"/>
            <a:ext cx="4576156" cy="400110"/>
          </a:xfrm>
          <a:prstGeom prst="rect">
            <a:avLst/>
          </a:prstGeom>
          <a:noFill/>
        </p:spPr>
        <p:txBody>
          <a:bodyPr wrap="square">
            <a:spAutoFit/>
          </a:bodyPr>
          <a:lstStyle/>
          <a:p>
            <a:r>
              <a:rPr lang="en-IN" sz="2000" b="1" u="sng" dirty="0">
                <a:solidFill>
                  <a:schemeClr val="accent1">
                    <a:lumMod val="75000"/>
                  </a:schemeClr>
                </a:solidFill>
                <a:latin typeface="Times New Roman" panose="02020603050405020304" pitchFamily="18" charset="0"/>
                <a:cs typeface="Times New Roman" panose="02020603050405020304" pitchFamily="18" charset="0"/>
              </a:rPr>
              <a:t>RESULTS AND DISCUSSIONS</a:t>
            </a:r>
            <a:endParaRPr lang="en-IN" sz="2000" dirty="0"/>
          </a:p>
        </p:txBody>
      </p:sp>
      <p:sp>
        <p:nvSpPr>
          <p:cNvPr id="4" name="TextBox 3">
            <a:extLst>
              <a:ext uri="{FF2B5EF4-FFF2-40B4-BE49-F238E27FC236}">
                <a16:creationId xmlns:a16="http://schemas.microsoft.com/office/drawing/2014/main" id="{2CB7BE4D-86C4-DE4F-718A-B0F95A47A815}"/>
              </a:ext>
            </a:extLst>
          </p:cNvPr>
          <p:cNvSpPr txBox="1"/>
          <p:nvPr/>
        </p:nvSpPr>
        <p:spPr>
          <a:xfrm>
            <a:off x="544107" y="4531859"/>
            <a:ext cx="3846524" cy="369332"/>
          </a:xfrm>
          <a:prstGeom prst="rect">
            <a:avLst/>
          </a:prstGeom>
          <a:noFill/>
        </p:spPr>
        <p:txBody>
          <a:bodyPr wrap="square" rtlCol="0">
            <a:spAutoFit/>
          </a:bodyPr>
          <a:lstStyle/>
          <a:p>
            <a:r>
              <a:rPr lang="en-IN" dirty="0"/>
              <a:t>Fig 3: Result of pre-testing form</a:t>
            </a:r>
          </a:p>
        </p:txBody>
      </p:sp>
      <p:sp>
        <p:nvSpPr>
          <p:cNvPr id="5" name="TextBox 4">
            <a:extLst>
              <a:ext uri="{FF2B5EF4-FFF2-40B4-BE49-F238E27FC236}">
                <a16:creationId xmlns:a16="http://schemas.microsoft.com/office/drawing/2014/main" id="{1E5CC9AB-D962-C853-395D-1B6C0A2B45AA}"/>
              </a:ext>
            </a:extLst>
          </p:cNvPr>
          <p:cNvSpPr txBox="1"/>
          <p:nvPr/>
        </p:nvSpPr>
        <p:spPr>
          <a:xfrm>
            <a:off x="4793421" y="4531859"/>
            <a:ext cx="4027893" cy="369332"/>
          </a:xfrm>
          <a:prstGeom prst="rect">
            <a:avLst/>
          </a:prstGeom>
          <a:noFill/>
        </p:spPr>
        <p:txBody>
          <a:bodyPr wrap="square" rtlCol="0">
            <a:spAutoFit/>
          </a:bodyPr>
          <a:lstStyle/>
          <a:p>
            <a:r>
              <a:rPr lang="en-IN" dirty="0"/>
              <a:t>Fig 4: Diabetes risk input form</a:t>
            </a:r>
          </a:p>
        </p:txBody>
      </p:sp>
    </p:spTree>
    <p:extLst>
      <p:ext uri="{BB962C8B-B14F-4D97-AF65-F5344CB8AC3E}">
        <p14:creationId xmlns:p14="http://schemas.microsoft.com/office/powerpoint/2010/main" val="3975677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C7D0EE-B8E1-8920-E64A-23F4576BF969}"/>
              </a:ext>
            </a:extLst>
          </p:cNvPr>
          <p:cNvPicPr>
            <a:picLocks noChangeAspect="1"/>
          </p:cNvPicPr>
          <p:nvPr/>
        </p:nvPicPr>
        <p:blipFill>
          <a:blip r:embed="rId2"/>
          <a:stretch>
            <a:fillRect/>
          </a:stretch>
        </p:blipFill>
        <p:spPr>
          <a:xfrm>
            <a:off x="99753" y="739833"/>
            <a:ext cx="4239493" cy="3807229"/>
          </a:xfrm>
          <a:prstGeom prst="rect">
            <a:avLst/>
          </a:prstGeom>
        </p:spPr>
      </p:pic>
      <p:pic>
        <p:nvPicPr>
          <p:cNvPr id="7" name="Picture 6">
            <a:extLst>
              <a:ext uri="{FF2B5EF4-FFF2-40B4-BE49-F238E27FC236}">
                <a16:creationId xmlns:a16="http://schemas.microsoft.com/office/drawing/2014/main" id="{C466433F-11B2-C31F-5926-9447BDBB4C5C}"/>
              </a:ext>
            </a:extLst>
          </p:cNvPr>
          <p:cNvPicPr>
            <a:picLocks noChangeAspect="1"/>
          </p:cNvPicPr>
          <p:nvPr/>
        </p:nvPicPr>
        <p:blipFill>
          <a:blip r:embed="rId3"/>
          <a:stretch>
            <a:fillRect/>
          </a:stretch>
        </p:blipFill>
        <p:spPr>
          <a:xfrm>
            <a:off x="4708026" y="682827"/>
            <a:ext cx="4302974" cy="3864236"/>
          </a:xfrm>
          <a:prstGeom prst="rect">
            <a:avLst/>
          </a:prstGeom>
        </p:spPr>
      </p:pic>
      <p:sp>
        <p:nvSpPr>
          <p:cNvPr id="9" name="TextBox 8">
            <a:extLst>
              <a:ext uri="{FF2B5EF4-FFF2-40B4-BE49-F238E27FC236}">
                <a16:creationId xmlns:a16="http://schemas.microsoft.com/office/drawing/2014/main" id="{9A0CE8A2-6D02-B0CF-41D0-8400C7C6ED0E}"/>
              </a:ext>
            </a:extLst>
          </p:cNvPr>
          <p:cNvSpPr txBox="1"/>
          <p:nvPr/>
        </p:nvSpPr>
        <p:spPr>
          <a:xfrm>
            <a:off x="99752" y="160313"/>
            <a:ext cx="9110749" cy="369332"/>
          </a:xfrm>
          <a:prstGeom prst="rect">
            <a:avLst/>
          </a:prstGeom>
          <a:noFill/>
        </p:spPr>
        <p:txBody>
          <a:bodyPr wrap="square">
            <a:spAutoFit/>
          </a:bodyPr>
          <a:lstStyle/>
          <a:p>
            <a:pPr algn="ctr"/>
            <a:r>
              <a:rPr lang="en-IN" sz="1800" b="1" u="sng" dirty="0">
                <a:solidFill>
                  <a:schemeClr val="accent1">
                    <a:lumMod val="75000"/>
                  </a:schemeClr>
                </a:solidFill>
                <a:latin typeface="Times New Roman" panose="02020603050405020304" pitchFamily="18" charset="0"/>
                <a:cs typeface="Times New Roman" panose="02020603050405020304" pitchFamily="18" charset="0"/>
              </a:rPr>
              <a:t>RESULTS AND DISCUSSIONS</a:t>
            </a:r>
            <a:endParaRPr lang="en-IN" dirty="0"/>
          </a:p>
        </p:txBody>
      </p:sp>
      <p:sp>
        <p:nvSpPr>
          <p:cNvPr id="3" name="TextBox 2">
            <a:extLst>
              <a:ext uri="{FF2B5EF4-FFF2-40B4-BE49-F238E27FC236}">
                <a16:creationId xmlns:a16="http://schemas.microsoft.com/office/drawing/2014/main" id="{30E875E4-E87A-A17B-4B7A-84381AD9C973}"/>
              </a:ext>
            </a:extLst>
          </p:cNvPr>
          <p:cNvSpPr txBox="1"/>
          <p:nvPr/>
        </p:nvSpPr>
        <p:spPr>
          <a:xfrm>
            <a:off x="438307" y="4572584"/>
            <a:ext cx="3900939" cy="369332"/>
          </a:xfrm>
          <a:prstGeom prst="rect">
            <a:avLst/>
          </a:prstGeom>
          <a:noFill/>
        </p:spPr>
        <p:txBody>
          <a:bodyPr wrap="square" rtlCol="0">
            <a:spAutoFit/>
          </a:bodyPr>
          <a:lstStyle/>
          <a:p>
            <a:r>
              <a:rPr lang="en-IN" dirty="0"/>
              <a:t>Fig 5: Detailed metrics breakdown</a:t>
            </a:r>
          </a:p>
        </p:txBody>
      </p:sp>
      <p:sp>
        <p:nvSpPr>
          <p:cNvPr id="4" name="TextBox 3">
            <a:extLst>
              <a:ext uri="{FF2B5EF4-FFF2-40B4-BE49-F238E27FC236}">
                <a16:creationId xmlns:a16="http://schemas.microsoft.com/office/drawing/2014/main" id="{601D34A6-E130-8075-0C10-3DAEF29392A2}"/>
              </a:ext>
            </a:extLst>
          </p:cNvPr>
          <p:cNvSpPr txBox="1"/>
          <p:nvPr/>
        </p:nvSpPr>
        <p:spPr>
          <a:xfrm>
            <a:off x="5048091" y="4572584"/>
            <a:ext cx="4035451" cy="369332"/>
          </a:xfrm>
          <a:prstGeom prst="rect">
            <a:avLst/>
          </a:prstGeom>
          <a:noFill/>
        </p:spPr>
        <p:txBody>
          <a:bodyPr wrap="square" rtlCol="0">
            <a:spAutoFit/>
          </a:bodyPr>
          <a:lstStyle/>
          <a:p>
            <a:r>
              <a:rPr lang="en-IN" dirty="0"/>
              <a:t>Fig 6:Precautionary measures</a:t>
            </a:r>
          </a:p>
        </p:txBody>
      </p:sp>
    </p:spTree>
    <p:extLst>
      <p:ext uri="{BB962C8B-B14F-4D97-AF65-F5344CB8AC3E}">
        <p14:creationId xmlns:p14="http://schemas.microsoft.com/office/powerpoint/2010/main" val="7275289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D8B96-EC2C-33D2-27CD-458A926D9DB3}"/>
              </a:ext>
            </a:extLst>
          </p:cNvPr>
          <p:cNvSpPr>
            <a:spLocks noGrp="1"/>
          </p:cNvSpPr>
          <p:nvPr>
            <p:ph type="title"/>
          </p:nvPr>
        </p:nvSpPr>
        <p:spPr>
          <a:xfrm>
            <a:off x="1348249" y="0"/>
            <a:ext cx="6447501" cy="568712"/>
          </a:xfrm>
        </p:spPr>
        <p:txBody>
          <a:bodyPr>
            <a:normAutofit fontScale="90000"/>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          </a:t>
            </a:r>
            <a:r>
              <a:rPr lang="en-IN" sz="3200" b="1" u="sng" dirty="0">
                <a:solidFill>
                  <a:schemeClr val="accent1">
                    <a:lumMod val="75000"/>
                  </a:schemeClr>
                </a:solidFill>
                <a:latin typeface="Times New Roman" panose="02020603050405020304" pitchFamily="18" charset="0"/>
                <a:cs typeface="Times New Roman" panose="02020603050405020304" pitchFamily="18" charset="0"/>
              </a:rPr>
              <a:t>RESULTS AND DISCUSSIONS</a:t>
            </a:r>
            <a:endParaRPr lang="en-US" u="sng" dirty="0"/>
          </a:p>
        </p:txBody>
      </p:sp>
      <p:pic>
        <p:nvPicPr>
          <p:cNvPr id="6" name="Picture 5">
            <a:extLst>
              <a:ext uri="{FF2B5EF4-FFF2-40B4-BE49-F238E27FC236}">
                <a16:creationId xmlns:a16="http://schemas.microsoft.com/office/drawing/2014/main" id="{1C8CF339-5DD4-40FF-7E95-36118F4D2AB0}"/>
              </a:ext>
            </a:extLst>
          </p:cNvPr>
          <p:cNvPicPr>
            <a:picLocks noChangeAspect="1"/>
          </p:cNvPicPr>
          <p:nvPr/>
        </p:nvPicPr>
        <p:blipFill>
          <a:blip r:embed="rId2"/>
          <a:stretch>
            <a:fillRect/>
          </a:stretch>
        </p:blipFill>
        <p:spPr>
          <a:xfrm>
            <a:off x="914400" y="568712"/>
            <a:ext cx="7232073" cy="4078100"/>
          </a:xfrm>
          <a:prstGeom prst="rect">
            <a:avLst/>
          </a:prstGeom>
        </p:spPr>
      </p:pic>
      <p:sp>
        <p:nvSpPr>
          <p:cNvPr id="5" name="TextBox 4">
            <a:extLst>
              <a:ext uri="{FF2B5EF4-FFF2-40B4-BE49-F238E27FC236}">
                <a16:creationId xmlns:a16="http://schemas.microsoft.com/office/drawing/2014/main" id="{ADA02CA4-7290-6151-FB3B-14C9CC44EF03}"/>
              </a:ext>
            </a:extLst>
          </p:cNvPr>
          <p:cNvSpPr txBox="1"/>
          <p:nvPr/>
        </p:nvSpPr>
        <p:spPr>
          <a:xfrm>
            <a:off x="2342676" y="4646812"/>
            <a:ext cx="5063207" cy="369332"/>
          </a:xfrm>
          <a:prstGeom prst="rect">
            <a:avLst/>
          </a:prstGeom>
          <a:noFill/>
        </p:spPr>
        <p:txBody>
          <a:bodyPr wrap="square" rtlCol="0">
            <a:spAutoFit/>
          </a:bodyPr>
          <a:lstStyle/>
          <a:p>
            <a:r>
              <a:rPr lang="en-IN" dirty="0"/>
              <a:t>Fig 7: Model accuracy </a:t>
            </a:r>
            <a:r>
              <a:rPr lang="en-IN" dirty="0" err="1"/>
              <a:t>comparision</a:t>
            </a:r>
            <a:endParaRPr lang="en-IN" dirty="0"/>
          </a:p>
        </p:txBody>
      </p:sp>
    </p:spTree>
    <p:extLst>
      <p:ext uri="{BB962C8B-B14F-4D97-AF65-F5344CB8AC3E}">
        <p14:creationId xmlns:p14="http://schemas.microsoft.com/office/powerpoint/2010/main" val="783342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9D2C9-B115-C6DB-C4FA-F5C122B0AC2C}"/>
              </a:ext>
            </a:extLst>
          </p:cNvPr>
          <p:cNvSpPr>
            <a:spLocks noGrp="1"/>
          </p:cNvSpPr>
          <p:nvPr>
            <p:ph type="title"/>
          </p:nvPr>
        </p:nvSpPr>
        <p:spPr>
          <a:xfrm>
            <a:off x="1348248" y="0"/>
            <a:ext cx="6447501" cy="822960"/>
          </a:xfrm>
        </p:spPr>
        <p:txBody>
          <a:bodyPr/>
          <a:lstStyle/>
          <a:p>
            <a:pPr algn="ctr"/>
            <a:r>
              <a:rPr lang="en-IN" sz="2400" b="1" u="sng" dirty="0">
                <a:solidFill>
                  <a:schemeClr val="accent1">
                    <a:lumMod val="75000"/>
                  </a:schemeClr>
                </a:solidFill>
                <a:latin typeface="Times New Roman" panose="02020603050405020304" pitchFamily="18" charset="0"/>
                <a:cs typeface="Times New Roman" panose="02020603050405020304" pitchFamily="18" charset="0"/>
              </a:rPr>
              <a:t>RESULTS AND DISCUSSIONS</a:t>
            </a:r>
            <a:endParaRPr lang="en-IN" dirty="0"/>
          </a:p>
        </p:txBody>
      </p:sp>
      <p:pic>
        <p:nvPicPr>
          <p:cNvPr id="4" name="Picture 3">
            <a:extLst>
              <a:ext uri="{FF2B5EF4-FFF2-40B4-BE49-F238E27FC236}">
                <a16:creationId xmlns:a16="http://schemas.microsoft.com/office/drawing/2014/main" id="{D7CA90A2-21C8-9D26-3AF8-5CD2ADEC5E05}"/>
              </a:ext>
            </a:extLst>
          </p:cNvPr>
          <p:cNvPicPr>
            <a:picLocks noChangeAspect="1"/>
          </p:cNvPicPr>
          <p:nvPr/>
        </p:nvPicPr>
        <p:blipFill>
          <a:blip r:embed="rId2"/>
          <a:stretch>
            <a:fillRect/>
          </a:stretch>
        </p:blipFill>
        <p:spPr>
          <a:xfrm>
            <a:off x="120536" y="756458"/>
            <a:ext cx="4451464" cy="3758343"/>
          </a:xfrm>
          <a:prstGeom prst="rect">
            <a:avLst/>
          </a:prstGeom>
        </p:spPr>
      </p:pic>
      <p:pic>
        <p:nvPicPr>
          <p:cNvPr id="6" name="Picture 5">
            <a:extLst>
              <a:ext uri="{FF2B5EF4-FFF2-40B4-BE49-F238E27FC236}">
                <a16:creationId xmlns:a16="http://schemas.microsoft.com/office/drawing/2014/main" id="{9F69EF40-3DBF-739D-AF9F-A71CE7B94DC9}"/>
              </a:ext>
            </a:extLst>
          </p:cNvPr>
          <p:cNvPicPr>
            <a:picLocks noChangeAspect="1"/>
          </p:cNvPicPr>
          <p:nvPr/>
        </p:nvPicPr>
        <p:blipFill>
          <a:blip r:embed="rId3"/>
          <a:stretch>
            <a:fillRect/>
          </a:stretch>
        </p:blipFill>
        <p:spPr>
          <a:xfrm>
            <a:off x="4854633" y="756458"/>
            <a:ext cx="4168828" cy="3882044"/>
          </a:xfrm>
          <a:prstGeom prst="rect">
            <a:avLst/>
          </a:prstGeom>
        </p:spPr>
      </p:pic>
      <p:sp>
        <p:nvSpPr>
          <p:cNvPr id="3" name="TextBox 2">
            <a:extLst>
              <a:ext uri="{FF2B5EF4-FFF2-40B4-BE49-F238E27FC236}">
                <a16:creationId xmlns:a16="http://schemas.microsoft.com/office/drawing/2014/main" id="{51B58CFA-B7C1-D9ED-3F31-2C7AD46A3FA6}"/>
              </a:ext>
            </a:extLst>
          </p:cNvPr>
          <p:cNvSpPr txBox="1"/>
          <p:nvPr/>
        </p:nvSpPr>
        <p:spPr>
          <a:xfrm>
            <a:off x="305305" y="4774168"/>
            <a:ext cx="4549328" cy="369332"/>
          </a:xfrm>
          <a:prstGeom prst="rect">
            <a:avLst/>
          </a:prstGeom>
          <a:noFill/>
        </p:spPr>
        <p:txBody>
          <a:bodyPr wrap="square" rtlCol="0">
            <a:spAutoFit/>
          </a:bodyPr>
          <a:lstStyle/>
          <a:p>
            <a:r>
              <a:rPr lang="en-IN" dirty="0"/>
              <a:t>Fig 8: Symptoms prediction input sliders</a:t>
            </a:r>
          </a:p>
        </p:txBody>
      </p:sp>
      <p:sp>
        <p:nvSpPr>
          <p:cNvPr id="5" name="TextBox 4">
            <a:extLst>
              <a:ext uri="{FF2B5EF4-FFF2-40B4-BE49-F238E27FC236}">
                <a16:creationId xmlns:a16="http://schemas.microsoft.com/office/drawing/2014/main" id="{AFCD5022-54C9-ABC7-E5A3-62027EC008A5}"/>
              </a:ext>
            </a:extLst>
          </p:cNvPr>
          <p:cNvSpPr txBox="1"/>
          <p:nvPr/>
        </p:nvSpPr>
        <p:spPr>
          <a:xfrm>
            <a:off x="4760926" y="4765100"/>
            <a:ext cx="4549328" cy="369332"/>
          </a:xfrm>
          <a:prstGeom prst="rect">
            <a:avLst/>
          </a:prstGeom>
          <a:noFill/>
        </p:spPr>
        <p:txBody>
          <a:bodyPr wrap="square" rtlCol="0">
            <a:spAutoFit/>
          </a:bodyPr>
          <a:lstStyle/>
          <a:p>
            <a:r>
              <a:rPr lang="en-IN" dirty="0"/>
              <a:t>Fig 9: High risk health analysis result</a:t>
            </a:r>
          </a:p>
        </p:txBody>
      </p:sp>
    </p:spTree>
    <p:extLst>
      <p:ext uri="{BB962C8B-B14F-4D97-AF65-F5344CB8AC3E}">
        <p14:creationId xmlns:p14="http://schemas.microsoft.com/office/powerpoint/2010/main" val="875224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6FCC715-5ECA-6918-56F2-7CBB0CB9C22E}"/>
              </a:ext>
            </a:extLst>
          </p:cNvPr>
          <p:cNvSpPr txBox="1"/>
          <p:nvPr/>
        </p:nvSpPr>
        <p:spPr>
          <a:xfrm>
            <a:off x="2371205" y="77184"/>
            <a:ext cx="4576156" cy="400110"/>
          </a:xfrm>
          <a:prstGeom prst="rect">
            <a:avLst/>
          </a:prstGeom>
          <a:noFill/>
        </p:spPr>
        <p:txBody>
          <a:bodyPr wrap="square">
            <a:spAutoFit/>
          </a:bodyPr>
          <a:lstStyle/>
          <a:p>
            <a:r>
              <a:rPr lang="en-IN" sz="2000" b="1" u="sng" dirty="0">
                <a:solidFill>
                  <a:schemeClr val="accent1">
                    <a:lumMod val="75000"/>
                  </a:schemeClr>
                </a:solidFill>
                <a:latin typeface="Times New Roman" panose="02020603050405020304" pitchFamily="18" charset="0"/>
                <a:cs typeface="Times New Roman" panose="02020603050405020304" pitchFamily="18" charset="0"/>
              </a:rPr>
              <a:t>RESULTS AND DISCUSSIONS</a:t>
            </a:r>
            <a:endParaRPr lang="en-IN" sz="2000" dirty="0"/>
          </a:p>
        </p:txBody>
      </p:sp>
      <p:pic>
        <p:nvPicPr>
          <p:cNvPr id="6" name="Picture 5">
            <a:extLst>
              <a:ext uri="{FF2B5EF4-FFF2-40B4-BE49-F238E27FC236}">
                <a16:creationId xmlns:a16="http://schemas.microsoft.com/office/drawing/2014/main" id="{9FDFD581-E0D5-7637-0ACB-DEE93BD0D178}"/>
              </a:ext>
            </a:extLst>
          </p:cNvPr>
          <p:cNvPicPr>
            <a:picLocks noChangeAspect="1"/>
          </p:cNvPicPr>
          <p:nvPr/>
        </p:nvPicPr>
        <p:blipFill>
          <a:blip r:embed="rId2"/>
          <a:stretch>
            <a:fillRect/>
          </a:stretch>
        </p:blipFill>
        <p:spPr>
          <a:xfrm>
            <a:off x="199505" y="723207"/>
            <a:ext cx="4297680" cy="3915296"/>
          </a:xfrm>
          <a:prstGeom prst="rect">
            <a:avLst/>
          </a:prstGeom>
        </p:spPr>
      </p:pic>
      <p:pic>
        <p:nvPicPr>
          <p:cNvPr id="8" name="Picture 7">
            <a:extLst>
              <a:ext uri="{FF2B5EF4-FFF2-40B4-BE49-F238E27FC236}">
                <a16:creationId xmlns:a16="http://schemas.microsoft.com/office/drawing/2014/main" id="{F0BDF29C-8B4D-B84C-D909-8BA34DCED595}"/>
              </a:ext>
            </a:extLst>
          </p:cNvPr>
          <p:cNvPicPr>
            <a:picLocks noChangeAspect="1"/>
          </p:cNvPicPr>
          <p:nvPr/>
        </p:nvPicPr>
        <p:blipFill>
          <a:blip r:embed="rId3"/>
          <a:stretch>
            <a:fillRect/>
          </a:stretch>
        </p:blipFill>
        <p:spPr>
          <a:xfrm>
            <a:off x="4846320" y="723208"/>
            <a:ext cx="4098175" cy="3915296"/>
          </a:xfrm>
          <a:prstGeom prst="rect">
            <a:avLst/>
          </a:prstGeom>
        </p:spPr>
      </p:pic>
      <p:sp>
        <p:nvSpPr>
          <p:cNvPr id="2" name="TextBox 1">
            <a:extLst>
              <a:ext uri="{FF2B5EF4-FFF2-40B4-BE49-F238E27FC236}">
                <a16:creationId xmlns:a16="http://schemas.microsoft.com/office/drawing/2014/main" id="{203E56EC-F42C-047D-41B6-00A9E1F1EE7F}"/>
              </a:ext>
            </a:extLst>
          </p:cNvPr>
          <p:cNvSpPr txBox="1"/>
          <p:nvPr/>
        </p:nvSpPr>
        <p:spPr>
          <a:xfrm>
            <a:off x="938960" y="4561250"/>
            <a:ext cx="3633040" cy="646331"/>
          </a:xfrm>
          <a:prstGeom prst="rect">
            <a:avLst/>
          </a:prstGeom>
          <a:noFill/>
        </p:spPr>
        <p:txBody>
          <a:bodyPr wrap="square" rtlCol="0">
            <a:spAutoFit/>
          </a:bodyPr>
          <a:lstStyle/>
          <a:p>
            <a:r>
              <a:rPr lang="en-IN" dirty="0"/>
              <a:t>Fig 10: Moderate symptoms health analysis result</a:t>
            </a:r>
          </a:p>
        </p:txBody>
      </p:sp>
      <p:sp>
        <p:nvSpPr>
          <p:cNvPr id="3" name="TextBox 2">
            <a:extLst>
              <a:ext uri="{FF2B5EF4-FFF2-40B4-BE49-F238E27FC236}">
                <a16:creationId xmlns:a16="http://schemas.microsoft.com/office/drawing/2014/main" id="{59E1A3DA-5C7F-BCD8-E53E-16483A14B06D}"/>
              </a:ext>
            </a:extLst>
          </p:cNvPr>
          <p:cNvSpPr txBox="1"/>
          <p:nvPr/>
        </p:nvSpPr>
        <p:spPr>
          <a:xfrm>
            <a:off x="5006151" y="4524204"/>
            <a:ext cx="3778512" cy="646331"/>
          </a:xfrm>
          <a:prstGeom prst="rect">
            <a:avLst/>
          </a:prstGeom>
          <a:noFill/>
        </p:spPr>
        <p:txBody>
          <a:bodyPr wrap="square" rtlCol="0">
            <a:spAutoFit/>
          </a:bodyPr>
          <a:lstStyle/>
          <a:p>
            <a:r>
              <a:rPr lang="en-IN" dirty="0"/>
              <a:t>Fig 11: Mild symptoms health analysis result</a:t>
            </a:r>
          </a:p>
        </p:txBody>
      </p:sp>
    </p:spTree>
    <p:extLst>
      <p:ext uri="{BB962C8B-B14F-4D97-AF65-F5344CB8AC3E}">
        <p14:creationId xmlns:p14="http://schemas.microsoft.com/office/powerpoint/2010/main" val="20569491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003B08-2E4B-108B-D2C6-4D0F04584271}"/>
              </a:ext>
            </a:extLst>
          </p:cNvPr>
          <p:cNvSpPr txBox="1"/>
          <p:nvPr/>
        </p:nvSpPr>
        <p:spPr>
          <a:xfrm>
            <a:off x="648393" y="97244"/>
            <a:ext cx="7281949" cy="461665"/>
          </a:xfrm>
          <a:prstGeom prst="rect">
            <a:avLst/>
          </a:prstGeom>
          <a:noFill/>
        </p:spPr>
        <p:txBody>
          <a:bodyPr wrap="square">
            <a:spAutoFit/>
          </a:bodyPr>
          <a:lstStyle/>
          <a:p>
            <a:pPr algn="ctr"/>
            <a:r>
              <a:rPr lang="en-US" sz="2400" b="1" dirty="0">
                <a:solidFill>
                  <a:schemeClr val="accent1">
                    <a:lumMod val="75000"/>
                  </a:schemeClr>
                </a:solidFill>
              </a:rPr>
              <a:t> </a:t>
            </a:r>
            <a:r>
              <a:rPr lang="en-US" sz="2400" b="1" u="sng" dirty="0">
                <a:solidFill>
                  <a:schemeClr val="accent1">
                    <a:lumMod val="75000"/>
                  </a:schemeClr>
                </a:solidFill>
                <a:latin typeface="Times New Roman" panose="02020603050405020304" pitchFamily="18" charset="0"/>
                <a:cs typeface="Times New Roman" panose="02020603050405020304" pitchFamily="18" charset="0"/>
              </a:rPr>
              <a:t>Comparison (Existing vs. Proposed) </a:t>
            </a:r>
          </a:p>
        </p:txBody>
      </p:sp>
      <p:graphicFrame>
        <p:nvGraphicFramePr>
          <p:cNvPr id="2" name="Table 1">
            <a:extLst>
              <a:ext uri="{FF2B5EF4-FFF2-40B4-BE49-F238E27FC236}">
                <a16:creationId xmlns:a16="http://schemas.microsoft.com/office/drawing/2014/main" id="{92798F9A-D269-2910-CB23-4F094B4D88CA}"/>
              </a:ext>
            </a:extLst>
          </p:cNvPr>
          <p:cNvGraphicFramePr>
            <a:graphicFrameLocks noGrp="1"/>
          </p:cNvGraphicFramePr>
          <p:nvPr>
            <p:extLst>
              <p:ext uri="{D42A27DB-BD31-4B8C-83A1-F6EECF244321}">
                <p14:modId xmlns:p14="http://schemas.microsoft.com/office/powerpoint/2010/main" val="1617236137"/>
              </p:ext>
            </p:extLst>
          </p:nvPr>
        </p:nvGraphicFramePr>
        <p:xfrm>
          <a:off x="381001" y="778932"/>
          <a:ext cx="8451298" cy="4114800"/>
        </p:xfrm>
        <a:graphic>
          <a:graphicData uri="http://schemas.openxmlformats.org/drawingml/2006/table">
            <a:tbl>
              <a:tblPr firstRow="1" bandRow="1">
                <a:tableStyleId>{7DF18680-E054-41AD-8BC1-D1AEF772440D}</a:tableStyleId>
              </a:tblPr>
              <a:tblGrid>
                <a:gridCol w="2288108">
                  <a:extLst>
                    <a:ext uri="{9D8B030D-6E8A-4147-A177-3AD203B41FA5}">
                      <a16:colId xmlns:a16="http://schemas.microsoft.com/office/drawing/2014/main" val="1206970650"/>
                    </a:ext>
                  </a:extLst>
                </a:gridCol>
                <a:gridCol w="3346091">
                  <a:extLst>
                    <a:ext uri="{9D8B030D-6E8A-4147-A177-3AD203B41FA5}">
                      <a16:colId xmlns:a16="http://schemas.microsoft.com/office/drawing/2014/main" val="3672055292"/>
                    </a:ext>
                  </a:extLst>
                </a:gridCol>
                <a:gridCol w="2817099">
                  <a:extLst>
                    <a:ext uri="{9D8B030D-6E8A-4147-A177-3AD203B41FA5}">
                      <a16:colId xmlns:a16="http://schemas.microsoft.com/office/drawing/2014/main" val="971446785"/>
                    </a:ext>
                  </a:extLst>
                </a:gridCol>
              </a:tblGrid>
              <a:tr h="685800">
                <a:tc>
                  <a:txBody>
                    <a:bodyPr/>
                    <a:lstStyle/>
                    <a:p>
                      <a:r>
                        <a:rPr lang="en-IN" dirty="0"/>
                        <a:t>Aspect</a:t>
                      </a:r>
                    </a:p>
                  </a:txBody>
                  <a:tcPr/>
                </a:tc>
                <a:tc>
                  <a:txBody>
                    <a:bodyPr/>
                    <a:lstStyle/>
                    <a:p>
                      <a:r>
                        <a:rPr lang="en-IN" dirty="0"/>
                        <a:t>Existing System</a:t>
                      </a:r>
                    </a:p>
                    <a:p>
                      <a:r>
                        <a:rPr lang="en-IN" dirty="0"/>
                        <a:t>(Traditional Disease </a:t>
                      </a:r>
                      <a:r>
                        <a:rPr lang="en-IN"/>
                        <a:t>Prediction System)</a:t>
                      </a:r>
                      <a:endParaRPr lang="en-IN" dirty="0"/>
                    </a:p>
                  </a:txBody>
                  <a:tcPr/>
                </a:tc>
                <a:tc>
                  <a:txBody>
                    <a:bodyPr/>
                    <a:lstStyle/>
                    <a:p>
                      <a:r>
                        <a:rPr lang="en-IN" dirty="0"/>
                        <a:t>Proposed Application</a:t>
                      </a:r>
                    </a:p>
                    <a:p>
                      <a:r>
                        <a:rPr lang="en-IN" dirty="0"/>
                        <a:t>(Multiple Disease Prediction)</a:t>
                      </a:r>
                    </a:p>
                  </a:txBody>
                  <a:tcPr/>
                </a:tc>
                <a:extLst>
                  <a:ext uri="{0D108BD9-81ED-4DB2-BD59-A6C34878D82A}">
                    <a16:rowId xmlns:a16="http://schemas.microsoft.com/office/drawing/2014/main" val="2166682995"/>
                  </a:ext>
                </a:extLst>
              </a:tr>
              <a:tr h="685800">
                <a:tc>
                  <a:txBody>
                    <a:bodyPr/>
                    <a:lstStyle/>
                    <a:p>
                      <a:r>
                        <a:rPr lang="en-IN" dirty="0"/>
                        <a:t>Core Approach</a:t>
                      </a:r>
                    </a:p>
                  </a:txBody>
                  <a:tcPr/>
                </a:tc>
                <a:tc>
                  <a:txBody>
                    <a:bodyPr/>
                    <a:lstStyle/>
                    <a:p>
                      <a:r>
                        <a:rPr lang="en-US" dirty="0"/>
                        <a:t>Single-disease models or manual interpretation</a:t>
                      </a:r>
                      <a:endParaRPr lang="en-IN" dirty="0"/>
                    </a:p>
                  </a:txBody>
                  <a:tcPr/>
                </a:tc>
                <a:tc>
                  <a:txBody>
                    <a:bodyPr/>
                    <a:lstStyle/>
                    <a:p>
                      <a:r>
                        <a:rPr lang="en-IN" dirty="0"/>
                        <a:t>Multi-disease ML pipeline (RF, SVM, </a:t>
                      </a:r>
                      <a:r>
                        <a:rPr lang="en-IN" dirty="0" err="1"/>
                        <a:t>XGBoost</a:t>
                      </a:r>
                      <a:r>
                        <a:rPr lang="en-IN" dirty="0"/>
                        <a:t>)</a:t>
                      </a:r>
                    </a:p>
                  </a:txBody>
                  <a:tcPr/>
                </a:tc>
                <a:extLst>
                  <a:ext uri="{0D108BD9-81ED-4DB2-BD59-A6C34878D82A}">
                    <a16:rowId xmlns:a16="http://schemas.microsoft.com/office/drawing/2014/main" val="1890566960"/>
                  </a:ext>
                </a:extLst>
              </a:tr>
              <a:tr h="685800">
                <a:tc>
                  <a:txBody>
                    <a:bodyPr/>
                    <a:lstStyle/>
                    <a:p>
                      <a:r>
                        <a:rPr lang="en-IN" dirty="0"/>
                        <a:t>Feature Representation</a:t>
                      </a:r>
                    </a:p>
                  </a:txBody>
                  <a:tcPr/>
                </a:tc>
                <a:tc>
                  <a:txBody>
                    <a:bodyPr/>
                    <a:lstStyle/>
                    <a:p>
                      <a:r>
                        <a:rPr lang="en-IN" dirty="0"/>
                        <a:t>Simple handcrafted features</a:t>
                      </a:r>
                    </a:p>
                  </a:txBody>
                  <a:tcPr/>
                </a:tc>
                <a:tc>
                  <a:txBody>
                    <a:bodyPr/>
                    <a:lstStyle/>
                    <a:p>
                      <a:r>
                        <a:rPr lang="en-US" dirty="0"/>
                        <a:t>Scaled numeric features + symptom encoding</a:t>
                      </a:r>
                      <a:endParaRPr lang="en-IN" dirty="0"/>
                    </a:p>
                  </a:txBody>
                  <a:tcPr/>
                </a:tc>
                <a:extLst>
                  <a:ext uri="{0D108BD9-81ED-4DB2-BD59-A6C34878D82A}">
                    <a16:rowId xmlns:a16="http://schemas.microsoft.com/office/drawing/2014/main" val="2523695783"/>
                  </a:ext>
                </a:extLst>
              </a:tr>
              <a:tr h="685800">
                <a:tc>
                  <a:txBody>
                    <a:bodyPr/>
                    <a:lstStyle/>
                    <a:p>
                      <a:r>
                        <a:rPr lang="en-IN" dirty="0"/>
                        <a:t>Model Variety</a:t>
                      </a:r>
                    </a:p>
                  </a:txBody>
                  <a:tcPr/>
                </a:tc>
                <a:tc>
                  <a:txBody>
                    <a:bodyPr/>
                    <a:lstStyle/>
                    <a:p>
                      <a:r>
                        <a:rPr lang="en-IN" dirty="0"/>
                        <a:t>One or two classifiers</a:t>
                      </a:r>
                    </a:p>
                  </a:txBody>
                  <a:tcPr/>
                </a:tc>
                <a:tc>
                  <a:txBody>
                    <a:bodyPr/>
                    <a:lstStyle/>
                    <a:p>
                      <a:r>
                        <a:rPr lang="en-US" dirty="0"/>
                        <a:t>Separate best-fit model per disease (comparison done)</a:t>
                      </a:r>
                      <a:endParaRPr lang="en-IN" dirty="0"/>
                    </a:p>
                  </a:txBody>
                  <a:tcPr/>
                </a:tc>
                <a:extLst>
                  <a:ext uri="{0D108BD9-81ED-4DB2-BD59-A6C34878D82A}">
                    <a16:rowId xmlns:a16="http://schemas.microsoft.com/office/drawing/2014/main" val="4280304338"/>
                  </a:ext>
                </a:extLst>
              </a:tr>
              <a:tr h="685800">
                <a:tc>
                  <a:txBody>
                    <a:bodyPr/>
                    <a:lstStyle/>
                    <a:p>
                      <a:r>
                        <a:rPr lang="en-IN" dirty="0"/>
                        <a:t>User Interaction</a:t>
                      </a:r>
                    </a:p>
                  </a:txBody>
                  <a:tcPr/>
                </a:tc>
                <a:tc>
                  <a:txBody>
                    <a:bodyPr/>
                    <a:lstStyle/>
                    <a:p>
                      <a:r>
                        <a:rPr lang="en-IN" dirty="0"/>
                        <a:t>Manual or spreadsheet-based</a:t>
                      </a:r>
                    </a:p>
                  </a:txBody>
                  <a:tcPr/>
                </a:tc>
                <a:tc>
                  <a:txBody>
                    <a:bodyPr/>
                    <a:lstStyle/>
                    <a:p>
                      <a:r>
                        <a:rPr lang="en-US" dirty="0"/>
                        <a:t>Application interface for input &amp; results, APK wording</a:t>
                      </a:r>
                      <a:endParaRPr lang="en-IN" dirty="0"/>
                    </a:p>
                  </a:txBody>
                  <a:tcPr/>
                </a:tc>
                <a:extLst>
                  <a:ext uri="{0D108BD9-81ED-4DB2-BD59-A6C34878D82A}">
                    <a16:rowId xmlns:a16="http://schemas.microsoft.com/office/drawing/2014/main" val="3497580168"/>
                  </a:ext>
                </a:extLst>
              </a:tr>
              <a:tr h="685800">
                <a:tc>
                  <a:txBody>
                    <a:bodyPr/>
                    <a:lstStyle/>
                    <a:p>
                      <a:r>
                        <a:rPr lang="en-IN" dirty="0"/>
                        <a:t>Output</a:t>
                      </a:r>
                    </a:p>
                  </a:txBody>
                  <a:tcPr/>
                </a:tc>
                <a:tc>
                  <a:txBody>
                    <a:bodyPr/>
                    <a:lstStyle/>
                    <a:p>
                      <a:r>
                        <a:rPr lang="en-IN" dirty="0"/>
                        <a:t>Single prediction</a:t>
                      </a:r>
                    </a:p>
                  </a:txBody>
                  <a:tcPr/>
                </a:tc>
                <a:tc>
                  <a:txBody>
                    <a:bodyPr/>
                    <a:lstStyle/>
                    <a:p>
                      <a:r>
                        <a:rPr lang="en-IN" dirty="0"/>
                        <a:t>Multi-disease predictions + probabilities + recommendations</a:t>
                      </a:r>
                    </a:p>
                  </a:txBody>
                  <a:tcPr/>
                </a:tc>
                <a:extLst>
                  <a:ext uri="{0D108BD9-81ED-4DB2-BD59-A6C34878D82A}">
                    <a16:rowId xmlns:a16="http://schemas.microsoft.com/office/drawing/2014/main" val="46542002"/>
                  </a:ext>
                </a:extLst>
              </a:tr>
            </a:tbl>
          </a:graphicData>
        </a:graphic>
      </p:graphicFrame>
    </p:spTree>
    <p:extLst>
      <p:ext uri="{BB962C8B-B14F-4D97-AF65-F5344CB8AC3E}">
        <p14:creationId xmlns:p14="http://schemas.microsoft.com/office/powerpoint/2010/main" val="3283925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5"/>
          <p:cNvSpPr txBox="1">
            <a:spLocks noGrp="1"/>
          </p:cNvSpPr>
          <p:nvPr>
            <p:ph type="title"/>
          </p:nvPr>
        </p:nvSpPr>
        <p:spPr>
          <a:xfrm>
            <a:off x="173553" y="146863"/>
            <a:ext cx="8520600" cy="607800"/>
          </a:xfrm>
          <a:prstGeom prst="rect">
            <a:avLst/>
          </a:prstGeom>
        </p:spPr>
        <p:txBody>
          <a:bodyPr spcFirstLastPara="1" wrap="square" lIns="91425" tIns="91425" rIns="91425" bIns="91425" anchor="t" anchorCtr="0">
            <a:normAutofit fontScale="90000"/>
          </a:bodyPr>
          <a:lstStyle/>
          <a:p>
            <a:pPr algn="ctr"/>
            <a:r>
              <a:rPr lang="en-US" sz="3200" b="1" u="sng" dirty="0">
                <a:solidFill>
                  <a:schemeClr val="accent1">
                    <a:lumMod val="75000"/>
                  </a:schemeClr>
                </a:solidFill>
                <a:latin typeface="Times New Roman" panose="02020603050405020304" pitchFamily="18" charset="0"/>
                <a:cs typeface="Times New Roman" panose="02020603050405020304" pitchFamily="18" charset="0"/>
              </a:rPr>
              <a:t>CONCLUSION</a:t>
            </a:r>
            <a:br>
              <a:rPr lang="en-US" sz="3200" b="1" dirty="0">
                <a:solidFill>
                  <a:schemeClr val="accent1">
                    <a:lumMod val="75000"/>
                  </a:schemeClr>
                </a:solidFill>
              </a:rPr>
            </a:br>
            <a:endParaRPr lang="en-IN" u="sng" dirty="0"/>
          </a:p>
        </p:txBody>
      </p:sp>
      <p:sp>
        <p:nvSpPr>
          <p:cNvPr id="101" name="Google Shape;101;p15"/>
          <p:cNvSpPr txBox="1">
            <a:spLocks noGrp="1"/>
          </p:cNvSpPr>
          <p:nvPr>
            <p:ph type="body" idx="1"/>
          </p:nvPr>
        </p:nvSpPr>
        <p:spPr>
          <a:xfrm>
            <a:off x="311700" y="1164657"/>
            <a:ext cx="8520600" cy="3102542"/>
          </a:xfrm>
          <a:prstGeom prst="rect">
            <a:avLst/>
          </a:prstGeom>
        </p:spPr>
        <p:txBody>
          <a:bodyPr spcFirstLastPara="1" wrap="square" lIns="91425" tIns="91425" rIns="91425" bIns="91425" anchor="t" anchorCtr="0">
            <a:noAutofit/>
          </a:bodyPr>
          <a:lstStyle/>
          <a:p>
            <a:pPr marL="114300" indent="0">
              <a:lnSpc>
                <a:spcPct val="150000"/>
              </a:lnSpc>
              <a:buNone/>
            </a:pPr>
            <a:r>
              <a:rPr lang="en-US"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project </a:t>
            </a:r>
            <a:r>
              <a:rPr lang="en-US" sz="1600" b="1" dirty="0">
                <a:latin typeface="Times New Roman" panose="02020603050405020304" pitchFamily="18" charset="0"/>
                <a:cs typeface="Times New Roman" panose="02020603050405020304" pitchFamily="18" charset="0"/>
              </a:rPr>
              <a:t>Multiple Disease Prediction Using Machine Learning</a:t>
            </a:r>
            <a:r>
              <a:rPr lang="en-US" sz="1600" dirty="0">
                <a:latin typeface="Times New Roman" panose="02020603050405020304" pitchFamily="18" charset="0"/>
                <a:cs typeface="Times New Roman" panose="02020603050405020304" pitchFamily="18" charset="0"/>
              </a:rPr>
              <a:t> demonstrates the effective use of machine learning techniques in healthcare applications. The system accurately predicts multiple diseases and provides a user-friendly interface for preliminary health assessment. The enhanced version improves usability while maintaining prediction accuracy.</a:t>
            </a:r>
          </a:p>
        </p:txBody>
      </p:sp>
    </p:spTree>
    <p:extLst>
      <p:ext uri="{BB962C8B-B14F-4D97-AF65-F5344CB8AC3E}">
        <p14:creationId xmlns:p14="http://schemas.microsoft.com/office/powerpoint/2010/main" val="4213525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6"/>
          <p:cNvSpPr txBox="1">
            <a:spLocks noGrp="1"/>
          </p:cNvSpPr>
          <p:nvPr>
            <p:ph type="title"/>
          </p:nvPr>
        </p:nvSpPr>
        <p:spPr>
          <a:xfrm>
            <a:off x="285387" y="197352"/>
            <a:ext cx="8520600" cy="607800"/>
          </a:xfrm>
          <a:prstGeom prst="rect">
            <a:avLst/>
          </a:prstGeom>
        </p:spPr>
        <p:txBody>
          <a:bodyPr spcFirstLastPara="1" wrap="square" lIns="91425" tIns="91425" rIns="91425" bIns="91425" anchor="t" anchorCtr="0">
            <a:normAutofit fontScale="90000"/>
          </a:bodyPr>
          <a:lstStyle/>
          <a:p>
            <a:pPr lvl="0" algn="ctr"/>
            <a:r>
              <a:rPr lang="en-US" sz="3200" b="1" u="sng" dirty="0">
                <a:solidFill>
                  <a:schemeClr val="accent1">
                    <a:lumMod val="75000"/>
                  </a:schemeClr>
                </a:solidFill>
                <a:latin typeface="Times New Roman" panose="02020603050405020304" pitchFamily="18" charset="0"/>
                <a:cs typeface="Times New Roman" panose="02020603050405020304" pitchFamily="18" charset="0"/>
              </a:rPr>
              <a:t>Future Enhancement</a:t>
            </a:r>
            <a:endParaRPr lang="en-GB" b="1" u="sng" dirty="0">
              <a:latin typeface="Times New Roman" panose="02020603050405020304" pitchFamily="18" charset="0"/>
              <a:cs typeface="Times New Roman" panose="02020603050405020304" pitchFamily="18" charset="0"/>
            </a:endParaRPr>
          </a:p>
        </p:txBody>
      </p:sp>
      <p:sp>
        <p:nvSpPr>
          <p:cNvPr id="107" name="Google Shape;107;p16"/>
          <p:cNvSpPr txBox="1">
            <a:spLocks noGrp="1"/>
          </p:cNvSpPr>
          <p:nvPr>
            <p:ph type="body" idx="1"/>
          </p:nvPr>
        </p:nvSpPr>
        <p:spPr>
          <a:xfrm>
            <a:off x="390640" y="920689"/>
            <a:ext cx="8211493" cy="3339000"/>
          </a:xfrm>
          <a:prstGeom prst="rect">
            <a:avLst/>
          </a:prstGeom>
        </p:spPr>
        <p:txBody>
          <a:bodyPr spcFirstLastPara="1" wrap="square" lIns="91425" tIns="91425" rIns="91425" bIns="91425" anchor="t" anchorCtr="0">
            <a:normAutofit/>
          </a:bodyPr>
          <a:lstStyle/>
          <a:p>
            <a:r>
              <a:rPr lang="en-US" sz="1600" dirty="0">
                <a:latin typeface="Times New Roman" panose="02020603050405020304" pitchFamily="18" charset="0"/>
                <a:cs typeface="Times New Roman" panose="02020603050405020304" pitchFamily="18" charset="0"/>
              </a:rPr>
              <a:t>Can add advanced models, real-time monitoring, multilingual support, and EHR integration for better accuracy and usability.</a:t>
            </a:r>
          </a:p>
          <a:p>
            <a:endParaRPr lang="en-US" sz="7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Applicable in hospitals, tele-medicine, rural health centers, and can be extended to more diseases for early detection and prevention.</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7"/>
          <p:cNvSpPr txBox="1">
            <a:spLocks noGrp="1"/>
          </p:cNvSpPr>
          <p:nvPr>
            <p:ph type="title"/>
          </p:nvPr>
        </p:nvSpPr>
        <p:spPr>
          <a:xfrm>
            <a:off x="199867" y="81080"/>
            <a:ext cx="8520600" cy="607800"/>
          </a:xfrm>
          <a:prstGeom prst="rect">
            <a:avLst/>
          </a:prstGeom>
        </p:spPr>
        <p:txBody>
          <a:bodyPr spcFirstLastPara="1" wrap="square" lIns="91425" tIns="91425" rIns="91425" bIns="91425" anchor="t" anchorCtr="0">
            <a:normAutofit fontScale="90000"/>
          </a:bodyPr>
          <a:lstStyle/>
          <a:p>
            <a:pPr algn="ctr"/>
            <a:r>
              <a:rPr lang="en-US" sz="3200" u="sng" dirty="0">
                <a:solidFill>
                  <a:schemeClr val="accent1">
                    <a:lumMod val="75000"/>
                  </a:schemeClr>
                </a:solidFill>
              </a:rPr>
              <a:t>REFERENCES</a:t>
            </a:r>
            <a:br>
              <a:rPr lang="en-US" sz="3200" dirty="0">
                <a:solidFill>
                  <a:schemeClr val="accent1">
                    <a:lumMod val="75000"/>
                  </a:schemeClr>
                </a:solidFill>
              </a:rPr>
            </a:br>
            <a:endParaRPr lang="en-GB" b="1" u="sng" dirty="0"/>
          </a:p>
        </p:txBody>
      </p:sp>
      <p:sp>
        <p:nvSpPr>
          <p:cNvPr id="113" name="Google Shape;113;p17"/>
          <p:cNvSpPr txBox="1">
            <a:spLocks noGrp="1"/>
          </p:cNvSpPr>
          <p:nvPr>
            <p:ph type="body" idx="1"/>
          </p:nvPr>
        </p:nvSpPr>
        <p:spPr>
          <a:xfrm>
            <a:off x="291964" y="763662"/>
            <a:ext cx="8520600" cy="3981593"/>
          </a:xfrm>
          <a:prstGeom prst="rect">
            <a:avLst/>
          </a:prstGeom>
        </p:spPr>
        <p:txBody>
          <a:bodyPr spcFirstLastPara="1" wrap="square" lIns="91425" tIns="91425" rIns="91425" bIns="91425" anchor="t" anchorCtr="0">
            <a:noAutofit/>
          </a:bodyPr>
          <a:lstStyle/>
          <a:p>
            <a:pPr lvl="0"/>
            <a:r>
              <a:rPr lang="en-US" dirty="0">
                <a:latin typeface="Times New Roman" panose="02020603050405020304" pitchFamily="18" charset="0"/>
                <a:cs typeface="Times New Roman" panose="02020603050405020304" pitchFamily="18" charset="0"/>
              </a:rPr>
              <a:t>T. Raj, D. Singh and A. Kaur, </a:t>
            </a:r>
            <a:r>
              <a:rPr lang="en-US" b="1" dirty="0">
                <a:latin typeface="Times New Roman" panose="02020603050405020304" pitchFamily="18" charset="0"/>
                <a:cs typeface="Times New Roman" panose="02020603050405020304" pitchFamily="18" charset="0"/>
              </a:rPr>
              <a:t>“A Machine Learning-Based Framework for Prediction of Weather- Related Diseases,” </a:t>
            </a:r>
            <a:r>
              <a:rPr lang="en-US" dirty="0">
                <a:latin typeface="Times New Roman" panose="02020603050405020304" pitchFamily="18" charset="0"/>
                <a:cs typeface="Times New Roman" panose="02020603050405020304" pitchFamily="18" charset="0"/>
              </a:rPr>
              <a:t>International Journal of Advanced Computer Science and Applications (IJACSA), vol. 11, no. 5, pp. 123–130, 2020.</a:t>
            </a:r>
          </a:p>
          <a:p>
            <a:pPr lvl="0"/>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M. Pawar and A. S. Kapse, </a:t>
            </a:r>
            <a:r>
              <a:rPr lang="en-US" b="1" dirty="0">
                <a:latin typeface="Times New Roman" panose="02020603050405020304" pitchFamily="18" charset="0"/>
                <a:cs typeface="Times New Roman" panose="02020603050405020304" pitchFamily="18" charset="0"/>
              </a:rPr>
              <a:t>“Disease Prediction Using Machine Learning Algorithms,” </a:t>
            </a:r>
            <a:r>
              <a:rPr lang="en-US" dirty="0">
                <a:latin typeface="Times New Roman" panose="02020603050405020304" pitchFamily="18" charset="0"/>
                <a:cs typeface="Times New Roman" panose="02020603050405020304" pitchFamily="18" charset="0"/>
              </a:rPr>
              <a:t>International Conference on Intelligent Computing and Control Systems (ICICCS), pp. 461–466, 2021. doi:10.1109/ICICCS51141.2021.9432164.</a:t>
            </a:r>
          </a:p>
          <a:p>
            <a:pPr lvl="0"/>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A. Joshi and S. Kulkarni, </a:t>
            </a:r>
            <a:r>
              <a:rPr lang="en-US" b="1" dirty="0">
                <a:latin typeface="Times New Roman" panose="02020603050405020304" pitchFamily="18" charset="0"/>
                <a:cs typeface="Times New Roman" panose="02020603050405020304" pitchFamily="18" charset="0"/>
              </a:rPr>
              <a:t>“Health Monitoring and Prediction System Using Machine Learning,” </a:t>
            </a:r>
            <a:r>
              <a:rPr lang="en-US" dirty="0">
                <a:latin typeface="Times New Roman" panose="02020603050405020304" pitchFamily="18" charset="0"/>
                <a:cs typeface="Times New Roman" panose="02020603050405020304" pitchFamily="18" charset="0"/>
              </a:rPr>
              <a:t>International Research Journal of Engineering and Technology (IRJET), vol. 8, no. 6, pp. 1500–1505, 2021.</a:t>
            </a:r>
          </a:p>
          <a:p>
            <a:pPr lvl="0"/>
            <a:endParaRPr lang="en-IN" dirty="0">
              <a:latin typeface="Times New Roman" panose="02020603050405020304" pitchFamily="18" charset="0"/>
              <a:cs typeface="Times New Roman" panose="02020603050405020304" pitchFamily="18" charset="0"/>
            </a:endParaRPr>
          </a:p>
          <a:p>
            <a:pPr lvl="0"/>
            <a:r>
              <a:rPr lang="en-US" b="1" dirty="0" err="1">
                <a:latin typeface="Times New Roman" panose="02020603050405020304" pitchFamily="18" charset="0"/>
                <a:cs typeface="Times New Roman" panose="02020603050405020304" pitchFamily="18" charset="0"/>
              </a:rPr>
              <a:t>OpenWeatherAPI</a:t>
            </a:r>
            <a:r>
              <a:rPr lang="en-US" b="1" dirty="0">
                <a:latin typeface="Times New Roman" panose="02020603050405020304" pitchFamily="18" charset="0"/>
                <a:cs typeface="Times New Roman" panose="02020603050405020304" pitchFamily="18" charset="0"/>
              </a:rPr>
              <a:t> Documentation, </a:t>
            </a:r>
            <a:r>
              <a:rPr lang="en-US" dirty="0">
                <a:latin typeface="Times New Roman" panose="02020603050405020304" pitchFamily="18" charset="0"/>
                <a:cs typeface="Times New Roman" panose="02020603050405020304" pitchFamily="18" charset="0"/>
              </a:rPr>
              <a:t>OpenWeather Ltd., Available at: </a:t>
            </a:r>
            <a:r>
              <a:rPr lang="en-US" u="sng" dirty="0">
                <a:latin typeface="Times New Roman" panose="02020603050405020304" pitchFamily="18" charset="0"/>
                <a:cs typeface="Times New Roman" panose="02020603050405020304" pitchFamily="18" charset="0"/>
                <a:hlinkClick r:id="rId3"/>
              </a:rPr>
              <a:t>https://openweathermap.org/api</a:t>
            </a:r>
            <a:endParaRPr lang="en-IN" dirty="0">
              <a:latin typeface="Times New Roman" panose="02020603050405020304" pitchFamily="18" charset="0"/>
              <a:cs typeface="Times New Roman" panose="02020603050405020304" pitchFamily="18" charset="0"/>
            </a:endParaRPr>
          </a:p>
          <a:p>
            <a:pPr marL="114300" indent="0">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Orvile,	</a:t>
            </a:r>
            <a:r>
              <a:rPr lang="en-US" b="1" dirty="0">
                <a:latin typeface="Times New Roman" panose="02020603050405020304" pitchFamily="18" charset="0"/>
                <a:cs typeface="Times New Roman" panose="02020603050405020304" pitchFamily="18" charset="0"/>
              </a:rPr>
              <a:t>“Weather-Related	Disease	Prediction	Dataset,”	</a:t>
            </a:r>
            <a:r>
              <a:rPr lang="en-US" dirty="0">
                <a:latin typeface="Times New Roman" panose="02020603050405020304" pitchFamily="18" charset="0"/>
                <a:cs typeface="Times New Roman" panose="02020603050405020304" pitchFamily="18" charset="0"/>
              </a:rPr>
              <a:t>Kaggle,	Available	at: </a:t>
            </a:r>
            <a:r>
              <a:rPr lang="en-US" u="sng" dirty="0">
                <a:latin typeface="Times New Roman" panose="02020603050405020304" pitchFamily="18" charset="0"/>
                <a:cs typeface="Times New Roman" panose="02020603050405020304" pitchFamily="18" charset="0"/>
                <a:hlinkClick r:id="rId4"/>
              </a:rPr>
              <a:t>https://www.kaggle.com/datasets/orvile/weather-related-disease-prediction-dataset</a:t>
            </a:r>
            <a:endParaRPr lang="en-IN" dirty="0">
              <a:latin typeface="Times New Roman" panose="02020603050405020304" pitchFamily="18" charset="0"/>
              <a:cs typeface="Times New Roman" panose="02020603050405020304" pitchFamily="18" charset="0"/>
            </a:endParaRPr>
          </a:p>
          <a:p>
            <a:pPr marL="0" indent="0">
              <a:lnSpc>
                <a:spcPct val="150000"/>
              </a:lnSpc>
              <a:spcAft>
                <a:spcPts val="1200"/>
              </a:spcAft>
              <a:buNone/>
            </a:pPr>
            <a:endParaRPr lang="en-US" sz="1400" b="1"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F1C90F-A321-DAB6-FF5D-FBCD51A07FA9}"/>
              </a:ext>
            </a:extLst>
          </p:cNvPr>
          <p:cNvSpPr txBox="1"/>
          <p:nvPr/>
        </p:nvSpPr>
        <p:spPr>
          <a:xfrm>
            <a:off x="3014770" y="1640536"/>
            <a:ext cx="4572000"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Thank You</a:t>
            </a:r>
            <a:endParaRPr lang="en-IN" sz="3600" dirty="0">
              <a:latin typeface="Times New Roman" panose="02020603050405020304" pitchFamily="18"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167F72F1-0474-7942-DCA3-C2403BA56186}"/>
              </a:ext>
            </a:extLst>
          </p:cNvPr>
          <p:cNvCxnSpPr>
            <a:cxnSpLocks/>
          </p:cNvCxnSpPr>
          <p:nvPr/>
        </p:nvCxnSpPr>
        <p:spPr>
          <a:xfrm>
            <a:off x="3239347" y="2210667"/>
            <a:ext cx="2095290"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0894028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1164</TotalTime>
  <Words>1644</Words>
  <Application>Microsoft Office PowerPoint</Application>
  <PresentationFormat>On-screen Show (16:9)</PresentationFormat>
  <Paragraphs>302</Paragraphs>
  <Slides>29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Times New Roman</vt:lpstr>
      <vt:lpstr>Trebuchet MS</vt:lpstr>
      <vt:lpstr>Roboto</vt:lpstr>
      <vt:lpstr>Arial</vt:lpstr>
      <vt:lpstr>Arimo</vt:lpstr>
      <vt:lpstr>Wingdings</vt:lpstr>
      <vt:lpstr>Wingdings 3</vt:lpstr>
      <vt:lpstr>Facet</vt:lpstr>
      <vt:lpstr>     Major Project – Final Seminar  On  “MULTIPLE DISEASE PREDICTION USING  MACHINE LEARNING ALGORITHMS”                               </vt:lpstr>
      <vt:lpstr>ABSTRACT</vt:lpstr>
      <vt:lpstr>PowerPoint Presentation</vt:lpstr>
      <vt:lpstr>                            INTRODUCTION   </vt:lpstr>
      <vt:lpstr>PowerPoint Presentation</vt:lpstr>
      <vt:lpstr>PowerPoint Presentation</vt:lpstr>
      <vt:lpstr>PowerPoint Presentation</vt:lpstr>
      <vt:lpstr>LITERATURE SURVEY-2</vt:lpstr>
      <vt:lpstr>LITERATURE SURVEY-3</vt:lpstr>
      <vt:lpstr>1.SYSTEM ARCHITECTURE    </vt:lpstr>
      <vt:lpstr>2.DATA  FLOW DIAGRAM    </vt:lpstr>
      <vt:lpstr>3.STATE CHART DIAGRAM  </vt:lpstr>
      <vt:lpstr>SOFTWARE REQUIREMENTS   </vt:lpstr>
      <vt:lpstr>IMPLEMENTATION DETAILS </vt:lpstr>
      <vt:lpstr>PowerPoint Presentation</vt:lpstr>
      <vt:lpstr>PSEUDOCODE of PREDICTION AND DIAGNOSIS MODULE</vt:lpstr>
      <vt:lpstr>PowerPoint Presentation</vt:lpstr>
      <vt:lpstr>RESULTS AND DISCUSSIONS </vt:lpstr>
      <vt:lpstr>PowerPoint Presentation</vt:lpstr>
      <vt:lpstr>PowerPoint Presentation</vt:lpstr>
      <vt:lpstr>PowerPoint Presentation</vt:lpstr>
      <vt:lpstr>          RESULTS AND DISCUSSIONS</vt:lpstr>
      <vt:lpstr>RESULTS AND DISCUSSIONS</vt:lpstr>
      <vt:lpstr>PowerPoint Presentation</vt:lpstr>
      <vt:lpstr>PowerPoint Presentation</vt:lpstr>
      <vt:lpstr>CONCLUSION </vt:lpstr>
      <vt:lpstr>Future Enhancement</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 - Synopsis on                                     “            “</dc:title>
  <dc:creator>Monika K</dc:creator>
  <cp:lastModifiedBy>BHUMIKA K</cp:lastModifiedBy>
  <cp:revision>96</cp:revision>
  <dcterms:modified xsi:type="dcterms:W3CDTF">2025-12-16T06:56:42Z</dcterms:modified>
</cp:coreProperties>
</file>